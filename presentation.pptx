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2" Type="http://schemas.openxmlformats.org/officeDocument/2006/relationships/viewProps" Target="viewProps.xml" /><Relationship Id="rId51" Type="http://schemas.openxmlformats.org/officeDocument/2006/relationships/presProps" Target="presProps.xml" /><Relationship Id="rId1" Type="http://schemas.openxmlformats.org/officeDocument/2006/relationships/slideMaster" Target="slideMasters/slideMaster1.xml" /><Relationship Id="rId54" Type="http://schemas.openxmlformats.org/officeDocument/2006/relationships/tableStyles" Target="tableStyles.xml" /><Relationship Id="rId5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PRÉSENTATION POWERPOINT</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Système de Gestion des Étudiants - USTM</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DIAPOSITIVE 1 : TITRE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PROJET DE PROGRAMMATION AVANCÉE</a:t>
            </a:r>
          </a:p>
        </p:txBody>
      </p:sp>
      <p:sp>
        <p:nvSpPr>
          <p:cNvPr id="3" name="Content Placeholder 2"/>
          <p:cNvSpPr>
            <a:spLocks noGrp="1"/>
          </p:cNvSpPr>
          <p:nvPr>
            <p:ph idx="1"/>
          </p:nvPr>
        </p:nvSpPr>
        <p:spPr/>
        <p:txBody>
          <a:bodyPr/>
          <a:lstStyle/>
          <a:p>
            <a:pPr lvl="0" indent="0" marL="0">
              <a:spcBef>
                <a:spcPts val="3000"/>
              </a:spcBef>
              <a:buNone/>
            </a:pPr>
            <a:r>
              <a:rPr b="1"/>
              <a:t>Système de Gestion des Étudiants</a:t>
            </a:r>
          </a:p>
          <a:p>
            <a:pPr lvl="0" indent="0" marL="0">
              <a:buNone/>
            </a:pPr>
            <a:r>
              <a:rPr b="1"/>
              <a:t>Université :</a:t>
            </a:r>
            <a:r>
              <a:rPr/>
              <a:t> USTM (Université des Sciences et Techniques de Masuku)</a:t>
            </a:r>
            <a:br/>
            <a:r>
              <a:rPr b="1"/>
              <a:t>Formation :</a:t>
            </a:r>
            <a:r>
              <a:rPr/>
              <a:t> DUT2-GRT S1</a:t>
            </a:r>
            <a:br/>
            <a:r>
              <a:rPr b="1"/>
              <a:t>Cours :</a:t>
            </a:r>
            <a:r>
              <a:rPr/>
              <a:t> Programmation Avancée</a:t>
            </a:r>
            <a:br/>
            <a:r>
              <a:rPr b="1"/>
              <a:t>Année :</a:t>
            </a:r>
            <a:r>
              <a:rPr/>
              <a:t> 2025-2026</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DIAPOSITIVE 2 : PLAN DE LA PRÉSENTATION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Plan</a:t>
            </a:r>
          </a:p>
        </p:txBody>
      </p:sp>
      <p:sp>
        <p:nvSpPr>
          <p:cNvPr id="3" name="Content Placeholder 2"/>
          <p:cNvSpPr>
            <a:spLocks noGrp="1"/>
          </p:cNvSpPr>
          <p:nvPr>
            <p:ph idx="1"/>
          </p:nvPr>
        </p:nvSpPr>
        <p:spPr/>
        <p:txBody>
          <a:bodyPr/>
          <a:lstStyle/>
          <a:p>
            <a:pPr lvl="0" indent="-342900" marL="342900">
              <a:buAutoNum type="arabicPeriod"/>
            </a:pPr>
            <a:r>
              <a:rPr b="1"/>
              <a:t>Contexte et Problématique</a:t>
            </a:r>
          </a:p>
          <a:p>
            <a:pPr lvl="0" indent="-342900" marL="342900">
              <a:buAutoNum type="arabicPeriod"/>
            </a:pPr>
            <a:r>
              <a:rPr b="1"/>
              <a:t>Concept et Définition</a:t>
            </a:r>
          </a:p>
          <a:p>
            <a:pPr lvl="0" indent="-342900" marL="342900">
              <a:buAutoNum type="arabicPeriod"/>
            </a:pPr>
            <a:r>
              <a:rPr b="1"/>
              <a:t>Architecture du Projet</a:t>
            </a:r>
          </a:p>
          <a:p>
            <a:pPr lvl="0" indent="-342900" marL="342900">
              <a:buAutoNum type="arabicPeriod"/>
            </a:pPr>
            <a:r>
              <a:rPr b="1"/>
              <a:t>Algorithmes Clés</a:t>
            </a:r>
          </a:p>
          <a:p>
            <a:pPr lvl="0" indent="-342900" marL="342900">
              <a:buAutoNum type="arabicPeriod"/>
            </a:pPr>
            <a:r>
              <a:rPr b="1"/>
              <a:t>Démonstration</a:t>
            </a:r>
          </a:p>
          <a:p>
            <a:pPr lvl="0" indent="-342900" marL="342900">
              <a:buAutoNum type="arabicPeriod"/>
            </a:pPr>
            <a:r>
              <a:rPr b="1"/>
              <a:t>Applications au Gabon</a:t>
            </a:r>
          </a:p>
          <a:p>
            <a:pPr lvl="0" indent="-342900" marL="342900">
              <a:buAutoNum type="arabicPeriod"/>
            </a:pPr>
            <a:r>
              <a:rPr b="1"/>
              <a:t>Conclusion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DIAPOSITIVE 3 : CONTEXTE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Contexte du Projet</a:t>
            </a:r>
          </a:p>
        </p:txBody>
      </p:sp>
      <p:sp>
        <p:nvSpPr>
          <p:cNvPr id="3" name="Content Placeholder 2"/>
          <p:cNvSpPr>
            <a:spLocks noGrp="1"/>
          </p:cNvSpPr>
          <p:nvPr>
            <p:ph idx="1"/>
          </p:nvPr>
        </p:nvSpPr>
        <p:spPr/>
        <p:txBody>
          <a:bodyPr/>
          <a:lstStyle/>
          <a:p>
            <a:pPr lvl="0" indent="0" marL="0">
              <a:spcBef>
                <a:spcPts val="3000"/>
              </a:spcBef>
              <a:buNone/>
            </a:pPr>
            <a:r>
              <a:rPr b="1"/>
              <a:t>L’USTM</a:t>
            </a:r>
          </a:p>
          <a:p>
            <a:pPr lvl="0"/>
            <a:r>
              <a:rPr/>
              <a:t>Université des Sciences et Techniques de Masuku</a:t>
            </a:r>
          </a:p>
          <a:p>
            <a:pPr lvl="0"/>
            <a:r>
              <a:rPr/>
              <a:t>Située à Franceville, Gabon</a:t>
            </a:r>
          </a:p>
          <a:p>
            <a:pPr lvl="0"/>
            <a:r>
              <a:rPr/>
              <a:t>Formation : DUT2-GRT (Génie Réseaux et Télécommunications)</a:t>
            </a:r>
          </a:p>
          <a:p>
            <a:pPr lvl="0" indent="0" marL="0">
              <a:spcBef>
                <a:spcPts val="3000"/>
              </a:spcBef>
              <a:buNone/>
            </a:pPr>
            <a:r>
              <a:rPr b="1"/>
              <a:t>Le Cours</a:t>
            </a:r>
          </a:p>
          <a:p>
            <a:pPr lvl="0"/>
            <a:r>
              <a:rPr b="1"/>
              <a:t>Programmation Avancée</a:t>
            </a:r>
            <a:r>
              <a:rPr/>
              <a:t> - Semestre S1</a:t>
            </a:r>
          </a:p>
          <a:p>
            <a:pPr lvl="0"/>
            <a:r>
              <a:rPr/>
              <a:t>Langage : </a:t>
            </a:r>
            <a:r>
              <a:rPr b="1"/>
              <a:t>C</a:t>
            </a:r>
          </a:p>
          <a:p>
            <a:pPr lvl="0"/>
            <a:r>
              <a:rPr/>
              <a:t>Objectif : Développer une application de gestion</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DIAPOSITIVE 4 : PROBLÉMATIQUE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Problematiques Rencontrées</a:t>
            </a:r>
          </a:p>
        </p:txBody>
      </p:sp>
      <p:sp>
        <p:nvSpPr>
          <p:cNvPr id="3" name="Content Placeholder 2"/>
          <p:cNvSpPr>
            <a:spLocks noGrp="1"/>
          </p:cNvSpPr>
          <p:nvPr>
            <p:ph idx="1"/>
          </p:nvPr>
        </p:nvSpPr>
        <p:spPr/>
        <p:txBody>
          <a:bodyPr/>
          <a:lstStyle/>
          <a:p>
            <a:pPr lvl="0" indent="0" marL="0">
              <a:spcBef>
                <a:spcPts val="3000"/>
              </a:spcBef>
              <a:buNone/>
            </a:pPr>
            <a:r>
              <a:rPr b="1"/>
              <a:t>Problème 1 : La Recherche d’Information</a:t>
            </a:r>
          </a:p>
          <a:p>
            <a:pPr lvl="0"/>
            <a:r>
              <a:rPr/>
              <a:t>Archives </a:t>
            </a:r>
            <a:r>
              <a:rPr b="1"/>
              <a:t>papier</a:t>
            </a:r>
            <a:r>
              <a:rPr/>
              <a:t> ou </a:t>
            </a:r>
            <a:r>
              <a:rPr b="1"/>
              <a:t>numérique</a:t>
            </a:r>
          </a:p>
          <a:p>
            <a:pPr lvl="0"/>
            <a:r>
              <a:rPr/>
              <a:t>Temps parfois </a:t>
            </a:r>
            <a:r>
              <a:rPr b="1"/>
              <a:t>dérisoire</a:t>
            </a:r>
            <a:r>
              <a:rPr/>
              <a:t> ou </a:t>
            </a:r>
            <a:r>
              <a:rPr b="1"/>
              <a:t>extrêmement complexe</a:t>
            </a:r>
          </a:p>
          <a:p>
            <a:pPr lvl="0" indent="0" marL="0">
              <a:spcBef>
                <a:spcPts val="3000"/>
              </a:spcBef>
              <a:buNone/>
            </a:pPr>
            <a:r>
              <a:rPr b="1"/>
              <a:t>Problème 2 : Insertion au Bon Endroit</a:t>
            </a:r>
          </a:p>
          <a:p>
            <a:pPr lvl="0"/>
            <a:r>
              <a:rPr/>
              <a:t>Données </a:t>
            </a:r>
            <a:r>
              <a:rPr b="1"/>
              <a:t>numériques</a:t>
            </a:r>
            <a:r>
              <a:rPr/>
              <a:t> = challenge supplémentaire</a:t>
            </a:r>
          </a:p>
          <a:p>
            <a:pPr lvl="0"/>
            <a:r>
              <a:rPr/>
              <a:t>Besoin de maintenir l’</a:t>
            </a:r>
            <a:r>
              <a:rPr b="1"/>
              <a:t>ordre alphabétique</a:t>
            </a:r>
          </a:p>
          <a:p>
            <a:pPr lvl="0" indent="0" marL="0">
              <a:spcBef>
                <a:spcPts val="3000"/>
              </a:spcBef>
              <a:buNone/>
            </a:pPr>
            <a:r>
              <a:rPr b="1"/>
              <a:t>Problème 3 : Gestion des Doublons</a:t>
            </a:r>
          </a:p>
          <a:p>
            <a:pPr lvl="0"/>
            <a:r>
              <a:rPr/>
              <a:t>Vérifier l’</a:t>
            </a:r>
            <a:r>
              <a:rPr b="1"/>
              <a:t>unicité</a:t>
            </a:r>
            <a:r>
              <a:rPr/>
              <a:t> des informations</a:t>
            </a:r>
          </a:p>
          <a:p>
            <a:pPr lvl="0"/>
            <a:r>
              <a:rPr/>
              <a:t>Éviter les </a:t>
            </a:r>
            <a:r>
              <a:rPr b="1"/>
              <a:t>données en double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DIAPOSITIVE 5 : LE PROJET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Le Projet : Projet 02|c</a:t>
            </a:r>
          </a:p>
        </p:txBody>
      </p:sp>
      <p:sp>
        <p:nvSpPr>
          <p:cNvPr id="3" name="Content Placeholder 2"/>
          <p:cNvSpPr>
            <a:spLocks noGrp="1"/>
          </p:cNvSpPr>
          <p:nvPr>
            <p:ph idx="1"/>
          </p:nvPr>
        </p:nvSpPr>
        <p:spPr/>
        <p:txBody>
          <a:bodyPr/>
          <a:lstStyle/>
          <a:p>
            <a:pPr lvl="0" indent="0" marL="0">
              <a:spcBef>
                <a:spcPts val="3000"/>
              </a:spcBef>
              <a:buNone/>
            </a:pPr>
            <a:r>
              <a:rPr b="1"/>
              <a:t>Objectif Principal</a:t>
            </a:r>
          </a:p>
          <a:p>
            <a:pPr lvl="0" indent="0" marL="0">
              <a:buNone/>
            </a:pPr>
            <a:r>
              <a:rPr/>
              <a:t>Développer un programme </a:t>
            </a:r>
            <a:r>
              <a:rPr b="1"/>
              <a:t>C</a:t>
            </a:r>
            <a:r>
              <a:rPr/>
              <a:t> qui insère les informations d’un(e) étudiant(e) au </a:t>
            </a:r>
            <a:r>
              <a:rPr b="1"/>
              <a:t>bon endroit</a:t>
            </a:r>
            <a:r>
              <a:rPr/>
              <a:t> dans un fichier CSV.</a:t>
            </a:r>
          </a:p>
          <a:p>
            <a:pPr lvl="0" indent="0" marL="0">
              <a:spcBef>
                <a:spcPts val="3000"/>
              </a:spcBef>
              <a:buNone/>
            </a:pPr>
            <a:r>
              <a:rPr b="1"/>
              <a:t>Spécifications</a:t>
            </a:r>
          </a:p>
          <a:p>
            <a:pPr lvl="0"/>
            <a:r>
              <a:rPr/>
              <a:t>✅ Fichier au format </a:t>
            </a:r>
            <a:r>
              <a:rPr b="1"/>
              <a:t>.csv</a:t>
            </a:r>
          </a:p>
          <a:p>
            <a:pPr lvl="0"/>
            <a:r>
              <a:rPr/>
              <a:t>✅ Chaque ligne = données d’un(e) étudiant(e)</a:t>
            </a:r>
          </a:p>
          <a:p>
            <a:pPr lvl="0"/>
            <a:r>
              <a:rPr/>
              <a:t>✅ Insertion par </a:t>
            </a:r>
            <a:r>
              <a:rPr b="1"/>
              <a:t>ordre alphabétique</a:t>
            </a:r>
            <a:r>
              <a:rPr/>
              <a:t> des noms</a:t>
            </a:r>
          </a:p>
          <a:p>
            <a:pPr lvl="0"/>
            <a:r>
              <a:rPr/>
              <a:t>✅ Vérification des </a:t>
            </a:r>
            <a:r>
              <a:rPr b="1"/>
              <a:t>doublons</a:t>
            </a:r>
            <a:r>
              <a:rPr/>
              <a:t> par matricule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DIAPOSITIVE 6 : CONCEPT</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 Le Concept : Insertion Triée Automatique</a:t>
            </a:r>
          </a:p>
        </p:txBody>
      </p:sp>
      <p:sp>
        <p:nvSpPr>
          <p:cNvPr id="4" name="Text Placeholder 3"/>
          <p:cNvSpPr>
            <a:spLocks noGrp="1"/>
          </p:cNvSpPr>
          <p:nvPr>
            <p:ph idx="2" sz="half" type="body"/>
          </p:nvPr>
        </p:nvSpPr>
        <p:spPr/>
        <p:txBody>
          <a:bodyPr/>
          <a:lstStyle/>
          <a:p>
            <a:pPr lvl="0" indent="0" marL="0">
              <a:spcBef>
                <a:spcPts val="3000"/>
              </a:spcBef>
              <a:buNone/>
            </a:pPr>
            <a:r>
              <a:rPr b="1"/>
              <a:t>Principe</a:t>
            </a:r>
          </a:p>
          <a:p>
            <a:pPr lvl="0" indent="0" marL="0">
              <a:buNone/>
            </a:pPr>
            <a:r>
              <a:rPr/>
              <a:t>Le programme trouve </a:t>
            </a:r>
            <a:r>
              <a:rPr b="1"/>
              <a:t>automatiquement</a:t>
            </a:r>
            <a:r>
              <a:rPr/>
              <a:t> la position correcte d’insertion : - Recherche de la position par </a:t>
            </a:r>
            <a:r>
              <a:rPr b="1"/>
              <a:t>recherche binaire</a:t>
            </a:r>
            <a:r>
              <a:rPr/>
              <a:t> - Décale les éléments si nécessaire - Insère le nouvel étudiant</a:t>
            </a:r>
          </a:p>
          <a:p>
            <a:pPr lvl="0" indent="0" marL="0">
              <a:spcBef>
                <a:spcPts val="3000"/>
              </a:spcBef>
              <a:buNone/>
            </a:pPr>
            <a:r>
              <a:rPr b="1"/>
              <a:t>Avantages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Avantage</a:t>
                      </a:r>
                    </a:p>
                  </a:txBody>
                  <a:tcPr/>
                </a:tc>
                <a:tc>
                  <a:txBody>
                    <a:bodyPr/>
                    <a:lstStyle/>
                    <a:p>
                      <a:pPr lvl="0" indent="0" marL="0">
                        <a:buNone/>
                      </a:pPr>
                      <a:r>
                        <a:rPr/>
                        <a:t>Description</a:t>
                      </a:r>
                    </a:p>
                  </a:txBody>
                  <a:tcPr/>
                </a:tc>
              </a:tr>
              <a:tr h="0">
                <a:tc>
                  <a:txBody>
                    <a:bodyPr/>
                    <a:lstStyle/>
                    <a:p>
                      <a:pPr lvl="0" indent="0" marL="0">
                        <a:buNone/>
                      </a:pPr>
                      <a:r>
                        <a:rPr/>
                        <a:t>Rapide</a:t>
                      </a:r>
                    </a:p>
                  </a:txBody>
                </a:tc>
                <a:tc>
                  <a:txBody>
                    <a:bodyPr/>
                    <a:lstStyle/>
                    <a:p>
                      <a:pPr lvl="0" indent="0" marL="0">
                        <a:buNone/>
                      </a:pPr>
                      <a:r>
                        <a:rPr/>
                        <a:t>Complexité O(log n)</a:t>
                      </a:r>
                    </a:p>
                  </a:txBody>
                </a:tc>
              </a:tr>
              <a:tr h="0">
                <a:tc>
                  <a:txBody>
                    <a:bodyPr/>
                    <a:lstStyle/>
                    <a:p>
                      <a:pPr lvl="0" indent="0" marL="0">
                        <a:buNone/>
                      </a:pPr>
                      <a:r>
                        <a:rPr/>
                        <a:t>Automatique</a:t>
                      </a:r>
                    </a:p>
                  </a:txBody>
                </a:tc>
                <a:tc>
                  <a:txBody>
                    <a:bodyPr/>
                    <a:lstStyle/>
                    <a:p>
                      <a:pPr lvl="0" indent="0" marL="0">
                        <a:buNone/>
                      </a:pPr>
                      <a:r>
                        <a:rPr/>
                        <a:t>Pas de tri manuel</a:t>
                      </a:r>
                    </a:p>
                  </a:txBody>
                </a:tc>
              </a:tr>
              <a:tr h="0">
                <a:tc>
                  <a:txBody>
                    <a:bodyPr/>
                    <a:lstStyle/>
                    <a:p>
                      <a:pPr lvl="0" indent="0" marL="0">
                        <a:buNone/>
                      </a:pPr>
                      <a:r>
                        <a:rPr/>
                        <a:t>Fiable</a:t>
                      </a:r>
                    </a:p>
                  </a:txBody>
                </a:tc>
                <a:tc>
                  <a:txBody>
                    <a:bodyPr/>
                    <a:lstStyle/>
                    <a:p>
                      <a:pPr lvl="0" indent="0" marL="0">
                        <a:buNone/>
                      </a:pPr>
                      <a:r>
                        <a:rPr/>
                        <a:t>Pas d’erreur d’ordre</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DIAPOSITIVE 7 : DONNÉES GÉRÉES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Données d’un Étudiant</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Champ</a:t>
                      </a:r>
                    </a:p>
                  </a:txBody>
                  <a:tcPr/>
                </a:tc>
                <a:tc>
                  <a:txBody>
                    <a:bodyPr/>
                    <a:lstStyle/>
                    <a:p>
                      <a:pPr lvl="0" indent="0" marL="0">
                        <a:buNone/>
                      </a:pPr>
                      <a:r>
                        <a:rPr/>
                        <a:t>Type</a:t>
                      </a:r>
                    </a:p>
                  </a:txBody>
                  <a:tcPr/>
                </a:tc>
                <a:tc>
                  <a:txBody>
                    <a:bodyPr/>
                    <a:lstStyle/>
                    <a:p>
                      <a:pPr lvl="0" indent="0" marL="0">
                        <a:buNone/>
                      </a:pPr>
                      <a:r>
                        <a:rPr/>
                        <a:t>Description</a:t>
                      </a:r>
                    </a:p>
                  </a:txBody>
                  <a:tcPr/>
                </a:tc>
              </a:tr>
              <a:tr h="0">
                <a:tc>
                  <a:txBody>
                    <a:bodyPr/>
                    <a:lstStyle/>
                    <a:p>
                      <a:pPr lvl="0" indent="0" marL="0">
                        <a:buNone/>
                      </a:pPr>
                      <a:r>
                        <a:rPr b="1"/>
                        <a:t>Nom</a:t>
                      </a:r>
                    </a:p>
                  </a:txBody>
                </a:tc>
                <a:tc>
                  <a:txBody>
                    <a:bodyPr/>
                    <a:lstStyle/>
                    <a:p>
                      <a:pPr lvl="0" indent="0" marL="0">
                        <a:buNone/>
                      </a:pPr>
                      <a:r>
                        <a:rPr/>
                        <a:t>Texte</a:t>
                      </a:r>
                    </a:p>
                  </a:txBody>
                </a:tc>
                <a:tc>
                  <a:txBody>
                    <a:bodyPr/>
                    <a:lstStyle/>
                    <a:p>
                      <a:pPr lvl="0" indent="0" marL="0">
                        <a:buNone/>
                      </a:pPr>
                      <a:r>
                        <a:rPr/>
                        <a:t>Nom de famille</a:t>
                      </a:r>
                    </a:p>
                  </a:txBody>
                </a:tc>
              </a:tr>
              <a:tr h="0">
                <a:tc>
                  <a:txBody>
                    <a:bodyPr/>
                    <a:lstStyle/>
                    <a:p>
                      <a:pPr lvl="0" indent="0" marL="0">
                        <a:buNone/>
                      </a:pPr>
                      <a:r>
                        <a:rPr b="1"/>
                        <a:t>Prénom</a:t>
                      </a:r>
                    </a:p>
                  </a:txBody>
                </a:tc>
                <a:tc>
                  <a:txBody>
                    <a:bodyPr/>
                    <a:lstStyle/>
                    <a:p>
                      <a:pPr lvl="0" indent="0" marL="0">
                        <a:buNone/>
                      </a:pPr>
                      <a:r>
                        <a:rPr/>
                        <a:t>Texte</a:t>
                      </a:r>
                    </a:p>
                  </a:txBody>
                </a:tc>
                <a:tc>
                  <a:txBody>
                    <a:bodyPr/>
                    <a:lstStyle/>
                    <a:p>
                      <a:pPr lvl="0" indent="0" marL="0">
                        <a:buNone/>
                      </a:pPr>
                      <a:r>
                        <a:rPr/>
                        <a:t>Prénom</a:t>
                      </a:r>
                    </a:p>
                  </a:txBody>
                </a:tc>
              </a:tr>
              <a:tr h="0">
                <a:tc>
                  <a:txBody>
                    <a:bodyPr/>
                    <a:lstStyle/>
                    <a:p>
                      <a:pPr lvl="0" indent="0" marL="0">
                        <a:buNone/>
                      </a:pPr>
                      <a:r>
                        <a:rPr b="1"/>
                        <a:t>Classe</a:t>
                      </a:r>
                    </a:p>
                  </a:txBody>
                </a:tc>
                <a:tc>
                  <a:txBody>
                    <a:bodyPr/>
                    <a:lstStyle/>
                    <a:p>
                      <a:pPr lvl="0" indent="0" marL="0">
                        <a:buNone/>
                      </a:pPr>
                      <a:r>
                        <a:rPr/>
                        <a:t>Texte</a:t>
                      </a:r>
                    </a:p>
                  </a:txBody>
                </a:tc>
                <a:tc>
                  <a:txBody>
                    <a:bodyPr/>
                    <a:lstStyle/>
                    <a:p>
                      <a:pPr lvl="0" indent="0" marL="0">
                        <a:buNone/>
                      </a:pPr>
                      <a:r>
                        <a:rPr/>
                        <a:t>Niveau/filière</a:t>
                      </a:r>
                    </a:p>
                  </a:txBody>
                </a:tc>
              </a:tr>
              <a:tr h="0">
                <a:tc>
                  <a:txBody>
                    <a:bodyPr/>
                    <a:lstStyle/>
                    <a:p>
                      <a:pPr lvl="0" indent="0" marL="0">
                        <a:buNone/>
                      </a:pPr>
                      <a:r>
                        <a:rPr b="1"/>
                        <a:t>Email</a:t>
                      </a:r>
                    </a:p>
                  </a:txBody>
                </a:tc>
                <a:tc>
                  <a:txBody>
                    <a:bodyPr/>
                    <a:lstStyle/>
                    <a:p>
                      <a:pPr lvl="0" indent="0" marL="0">
                        <a:buNone/>
                      </a:pPr>
                      <a:r>
                        <a:rPr/>
                        <a:t>Texte</a:t>
                      </a:r>
                    </a:p>
                  </a:txBody>
                </a:tc>
                <a:tc>
                  <a:txBody>
                    <a:bodyPr/>
                    <a:lstStyle/>
                    <a:p>
                      <a:pPr lvl="0" indent="0" marL="0">
                        <a:buNone/>
                      </a:pPr>
                      <a:r>
                        <a:rPr/>
                        <a:t>Adresse email</a:t>
                      </a:r>
                    </a:p>
                  </a:txBody>
                </a:tc>
              </a:tr>
              <a:tr h="0">
                <a:tc>
                  <a:txBody>
                    <a:bodyPr/>
                    <a:lstStyle/>
                    <a:p>
                      <a:pPr lvl="0" indent="0" marL="0">
                        <a:buNone/>
                      </a:pPr>
                      <a:r>
                        <a:rPr b="1"/>
                        <a:t>Matricule</a:t>
                      </a:r>
                    </a:p>
                  </a:txBody>
                </a:tc>
                <a:tc>
                  <a:txBody>
                    <a:bodyPr/>
                    <a:lstStyle/>
                    <a:p>
                      <a:pPr lvl="0" indent="0" marL="0">
                        <a:buNone/>
                      </a:pPr>
                      <a:r>
                        <a:rPr/>
                        <a:t>Texte</a:t>
                      </a:r>
                    </a:p>
                  </a:txBody>
                </a:tc>
                <a:tc>
                  <a:txBody>
                    <a:bodyPr/>
                    <a:lstStyle/>
                    <a:p>
                      <a:pPr lvl="0" indent="0" marL="0">
                        <a:buNone/>
                      </a:pPr>
                      <a:r>
                        <a:rPr/>
                        <a:t>Identifiant unique ⚠️</a:t>
                      </a:r>
                    </a:p>
                  </a:txBody>
                </a:tc>
              </a:tr>
              <a:tr h="0">
                <a:tc>
                  <a:txBody>
                    <a:bodyPr/>
                    <a:lstStyle/>
                    <a:p>
                      <a:pPr lvl="0" indent="0" marL="0">
                        <a:buNone/>
                      </a:pPr>
                      <a:r>
                        <a:rPr b="1"/>
                        <a:t>Sexe</a:t>
                      </a:r>
                    </a:p>
                  </a:txBody>
                </a:tc>
                <a:tc>
                  <a:txBody>
                    <a:bodyPr/>
                    <a:lstStyle/>
                    <a:p>
                      <a:pPr lvl="0" indent="0" marL="0">
                        <a:buNone/>
                      </a:pPr>
                      <a:r>
                        <a:rPr/>
                        <a:t>Texte</a:t>
                      </a:r>
                    </a:p>
                  </a:txBody>
                </a:tc>
                <a:tc>
                  <a:txBody>
                    <a:bodyPr/>
                    <a:lstStyle/>
                    <a:p>
                      <a:pPr lvl="0" indent="0" marL="0">
                        <a:buNone/>
                      </a:pPr>
                      <a:r>
                        <a:rPr/>
                        <a:t>Genre (M/F)</a:t>
                      </a:r>
                    </a:p>
                  </a:txBody>
                </a:tc>
              </a:tr>
            </a:tbl>
          </a:graphicData>
        </a:graphic>
      </p:graphicFrame>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DIAPOSITIVE 8 : ARCHITECTURE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Architecture du Projet</a:t>
            </a:r>
          </a:p>
        </p:txBody>
      </p:sp>
      <p:sp>
        <p:nvSpPr>
          <p:cNvPr id="3" name="Content Placeholder 2"/>
          <p:cNvSpPr>
            <a:spLocks noGrp="1"/>
          </p:cNvSpPr>
          <p:nvPr>
            <p:ph idx="1"/>
          </p:nvPr>
        </p:nvSpPr>
        <p:spPr/>
        <p:txBody>
          <a:bodyPr/>
          <a:lstStyle/>
          <a:p>
            <a:pPr lvl="0" indent="0" marL="0">
              <a:spcBef>
                <a:spcPts val="3000"/>
              </a:spcBef>
              <a:buNone/>
            </a:pPr>
            <a:r>
              <a:rPr b="1"/>
              <a:t>Structure</a:t>
            </a:r>
          </a:p>
          <a:p>
            <a:pPr lvl="0" indent="0">
              <a:buNone/>
            </a:pPr>
            <a:r>
              <a:rPr>
                <a:latin typeface="Courier"/>
              </a:rPr>
              <a:t>gestion_etudiants/
├── CMD_gestion/       # Version Console
├── GUI_gestion/       # Version Graphique (GTK+)
├── functions/         # Fonctions partagées
├── libs/              # Headers
└── data/              # Fichier CSV</a:t>
            </a:r>
          </a:p>
          <a:p>
            <a:pPr lvl="0" indent="0" marL="0">
              <a:spcBef>
                <a:spcPts val="3000"/>
              </a:spcBef>
              <a:buNone/>
            </a:pPr>
            <a:r>
              <a:rPr b="1"/>
              <a:t>Deux Interfaces</a:t>
            </a:r>
          </a:p>
          <a:p>
            <a:pPr lvl="0" indent="-342900" marL="342900">
              <a:buAutoNum type="arabicPeriod"/>
            </a:pPr>
            <a:r>
              <a:rPr b="1"/>
              <a:t>Console (CMD)</a:t>
            </a:r>
            <a:r>
              <a:rPr/>
              <a:t> : Ligne de commande avec couleurs</a:t>
            </a:r>
          </a:p>
          <a:p>
            <a:pPr lvl="0" indent="-342900" marL="342900">
              <a:buAutoNum type="arabicPeriod"/>
            </a:pPr>
            <a:r>
              <a:rPr b="1"/>
              <a:t>Graphique (GUI)</a:t>
            </a:r>
            <a:r>
              <a:rPr/>
              <a:t> : Interface GTK+ 3.0</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DIAPOSITIVE 9 : ALGORITHME DE RECHERCHE</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Recherche Binaire : Cher_pos_ins()</a:t>
            </a:r>
          </a:p>
        </p:txBody>
      </p:sp>
      <p:sp>
        <p:nvSpPr>
          <p:cNvPr id="3" name="Content Placeholder 2"/>
          <p:cNvSpPr>
            <a:spLocks noGrp="1"/>
          </p:cNvSpPr>
          <p:nvPr>
            <p:ph idx="1"/>
          </p:nvPr>
        </p:nvSpPr>
        <p:spPr/>
        <p:txBody>
          <a:bodyPr/>
          <a:lstStyle/>
          <a:p>
            <a:pPr lvl="0" indent="0" marL="0">
              <a:spcBef>
                <a:spcPts val="3000"/>
              </a:spcBef>
              <a:buNone/>
            </a:pPr>
            <a:r>
              <a:rPr b="1"/>
              <a:t>Complexité : O(log n)</a:t>
            </a:r>
          </a:p>
          <a:p>
            <a:pPr lvl="0"/>
            <a:r>
              <a:rPr/>
              <a:t>Très efficace même pour 1000 étudiants</a:t>
            </a:r>
          </a:p>
          <a:p>
            <a:pPr lvl="0" indent="0" marL="0">
              <a:spcBef>
                <a:spcPts val="3000"/>
              </a:spcBef>
              <a:buNone/>
            </a:pPr>
            <a:r>
              <a:rPr b="1"/>
              <a:t>Étapes</a:t>
            </a:r>
          </a:p>
          <a:p>
            <a:pPr lvl="0" indent="0">
              <a:buNone/>
            </a:pPr>
            <a:r>
              <a:rPr>
                <a:latin typeface="Courier"/>
              </a:rPr>
              <a:t>1. Début = 0, Fin = n-1
2. Calculer le milieu
3. Comparer avec l'élément du milieu
4. Éliminer la moitié pertinente
5. Répéter jusqu'à trouver la position</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DIAPOSITIVE 10 : ALGORITHME D’INSERTION</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Insertion avec Décalage</a:t>
            </a:r>
          </a:p>
        </p:txBody>
      </p:sp>
      <p:sp>
        <p:nvSpPr>
          <p:cNvPr id="3" name="Content Placeholder 2"/>
          <p:cNvSpPr>
            <a:spLocks noGrp="1"/>
          </p:cNvSpPr>
          <p:nvPr>
            <p:ph idx="1"/>
          </p:nvPr>
        </p:nvSpPr>
        <p:spPr/>
        <p:txBody>
          <a:bodyPr/>
          <a:lstStyle/>
          <a:p>
            <a:pPr lvl="0" indent="0" marL="0">
              <a:spcBef>
                <a:spcPts val="3000"/>
              </a:spcBef>
              <a:buNone/>
            </a:pPr>
            <a:r>
              <a:rPr b="1"/>
              <a:t>Étapes</a:t>
            </a:r>
          </a:p>
          <a:p>
            <a:pPr lvl="0" indent="0">
              <a:buNone/>
            </a:pPr>
            <a:r>
              <a:rPr>
                <a:latin typeface="Courier"/>
              </a:rPr>
              <a:t>1. Vérifier si le matricule existe (O(n))
2. Trouver la position (O(log n))
3. Décaler les éléments vers la droite (O(n))
4. Insérer le nouvel étudiant
5. Sauvegarder dans le fichier CSV</a:t>
            </a:r>
          </a:p>
          <a:p>
            <a:pPr lvl="0" indent="0" marL="0">
              <a:spcBef>
                <a:spcPts val="3000"/>
              </a:spcBef>
              <a:buNone/>
            </a:pPr>
            <a:r>
              <a:rPr b="1"/>
              <a:t>Complexité Totale</a:t>
            </a:r>
          </a:p>
          <a:p>
            <a:pPr lvl="0"/>
            <a:r>
              <a:rPr b="1"/>
              <a:t>Temps</a:t>
            </a:r>
            <a:r>
              <a:rPr/>
              <a:t> : O(n) dans le pire cas</a:t>
            </a:r>
          </a:p>
          <a:p>
            <a:pPr lvl="0"/>
            <a:r>
              <a:rPr b="1"/>
              <a:t>Mémoire</a:t>
            </a:r>
            <a:r>
              <a:rPr/>
              <a:t> : Tableau statique (1000 étudiants max)</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DIAPOSITIVE 11 : FORMAT CSV</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Format des Données</a:t>
            </a:r>
          </a:p>
        </p:txBody>
      </p:sp>
      <p:sp>
        <p:nvSpPr>
          <p:cNvPr id="3" name="Content Placeholder 2"/>
          <p:cNvSpPr>
            <a:spLocks noGrp="1"/>
          </p:cNvSpPr>
          <p:nvPr>
            <p:ph idx="1"/>
          </p:nvPr>
        </p:nvSpPr>
        <p:spPr/>
        <p:txBody>
          <a:bodyPr/>
          <a:lstStyle/>
          <a:p>
            <a:pPr lvl="0" indent="0" marL="0">
              <a:spcBef>
                <a:spcPts val="3000"/>
              </a:spcBef>
              <a:buNone/>
            </a:pPr>
            <a:r>
              <a:rPr b="1"/>
              <a:t>Structure</a:t>
            </a:r>
          </a:p>
          <a:p>
            <a:pPr lvl="0" indent="0">
              <a:buNone/>
            </a:pPr>
            <a:r>
              <a:rPr>
                <a:latin typeface="Courier"/>
              </a:rPr>
              <a:t>nom;prenom;classe;email;matricule;sex
Dupont;Jean;L1 Info;jean.dupont@ustm.fr;MAT001;M
Martin;Marie;L2 Info;marie.martin@ustm.fr;MAT002;F</a:t>
            </a:r>
          </a:p>
          <a:p>
            <a:pPr lvl="0" indent="0" marL="0">
              <a:spcBef>
                <a:spcPts val="3000"/>
              </a:spcBef>
              <a:buNone/>
            </a:pPr>
            <a:r>
              <a:rPr b="1"/>
              <a:t>Caractéristiques</a:t>
            </a:r>
          </a:p>
          <a:p>
            <a:pPr lvl="0"/>
            <a:r>
              <a:rPr b="1"/>
              <a:t>Délimiteur</a:t>
            </a:r>
            <a:r>
              <a:rPr/>
              <a:t> : Point-virgule (;)</a:t>
            </a:r>
          </a:p>
          <a:p>
            <a:pPr lvl="0"/>
            <a:r>
              <a:rPr b="1"/>
              <a:t>Compatibilité</a:t>
            </a:r>
            <a:r>
              <a:rPr/>
              <a:t> : Excel, LibreOffice, Google Sheets</a:t>
            </a:r>
          </a:p>
          <a:p>
            <a:pPr lvl="0"/>
            <a:r>
              <a:rPr b="1"/>
              <a:t>Gestion</a:t>
            </a:r>
            <a:r>
              <a:rPr/>
              <a:t> : Guillemets, caractères spéciaux</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DIAPOSITIVE 12 : FONCTIONNALITÉS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Fonctionnalités Implémentées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Fonctionnalité</a:t>
                      </a:r>
                    </a:p>
                  </a:txBody>
                  <a:tcPr/>
                </a:tc>
                <a:tc>
                  <a:txBody>
                    <a:bodyPr/>
                    <a:lstStyle/>
                    <a:p>
                      <a:pPr lvl="0" indent="0" marL="0">
                        <a:buNone/>
                      </a:pPr>
                      <a:r>
                        <a:rPr/>
                        <a:t>Description</a:t>
                      </a:r>
                    </a:p>
                  </a:txBody>
                  <a:tcPr/>
                </a:tc>
              </a:tr>
              <a:tr h="0">
                <a:tc>
                  <a:txBody>
                    <a:bodyPr/>
                    <a:lstStyle/>
                    <a:p>
                      <a:pPr lvl="0" indent="0" marL="0">
                        <a:buNone/>
                      </a:pPr>
                      <a:r>
                        <a:rPr/>
                        <a:t>➕ </a:t>
                      </a:r>
                      <a:r>
                        <a:rPr b="1"/>
                        <a:t>Ajouter</a:t>
                      </a:r>
                    </a:p>
                  </a:txBody>
                </a:tc>
                <a:tc>
                  <a:txBody>
                    <a:bodyPr/>
                    <a:lstStyle/>
                    <a:p>
                      <a:pPr lvl="0" indent="0" marL="0">
                        <a:buNone/>
                      </a:pPr>
                      <a:r>
                        <a:rPr/>
                        <a:t>Insertion triée automatique</a:t>
                      </a:r>
                    </a:p>
                  </a:txBody>
                </a:tc>
              </a:tr>
              <a:tr h="0">
                <a:tc>
                  <a:txBody>
                    <a:bodyPr/>
                    <a:lstStyle/>
                    <a:p>
                      <a:pPr lvl="0" indent="0" marL="0">
                        <a:buNone/>
                      </a:pPr>
                      <a:r>
                        <a:rPr/>
                        <a:t>📋 </a:t>
                      </a:r>
                      <a:r>
                        <a:rPr b="1"/>
                        <a:t>Afficher</a:t>
                      </a:r>
                    </a:p>
                  </a:txBody>
                </a:tc>
                <a:tc>
                  <a:txBody>
                    <a:bodyPr/>
                    <a:lstStyle/>
                    <a:p>
                      <a:pPr lvl="0" indent="0" marL="0">
                        <a:buNone/>
                      </a:pPr>
                      <a:r>
                        <a:rPr/>
                        <a:t>Liste complète formatée</a:t>
                      </a:r>
                    </a:p>
                  </a:txBody>
                </a:tc>
              </a:tr>
              <a:tr h="0">
                <a:tc>
                  <a:txBody>
                    <a:bodyPr/>
                    <a:lstStyle/>
                    <a:p>
                      <a:pPr lvl="0" indent="0" marL="0">
                        <a:buNone/>
                      </a:pPr>
                      <a:r>
                        <a:rPr/>
                        <a:t>🔍 </a:t>
                      </a:r>
                      <a:r>
                        <a:rPr b="1"/>
                        <a:t>Rechercher</a:t>
                      </a:r>
                    </a:p>
                  </a:txBody>
                </a:tc>
                <a:tc>
                  <a:txBody>
                    <a:bodyPr/>
                    <a:lstStyle/>
                    <a:p>
                      <a:pPr lvl="0" indent="0" marL="0">
                        <a:buNone/>
                      </a:pPr>
                      <a:r>
                        <a:rPr/>
                        <a:t>Recherche par nom</a:t>
                      </a:r>
                    </a:p>
                  </a:txBody>
                </a:tc>
              </a:tr>
              <a:tr h="0">
                <a:tc>
                  <a:txBody>
                    <a:bodyPr/>
                    <a:lstStyle/>
                    <a:p>
                      <a:pPr lvl="0" indent="0" marL="0">
                        <a:buNone/>
                      </a:pPr>
                      <a:r>
                        <a:rPr/>
                        <a:t>✏️ </a:t>
                      </a:r>
                      <a:r>
                        <a:rPr b="1"/>
                        <a:t>Modifier</a:t>
                      </a:r>
                    </a:p>
                  </a:txBody>
                </a:tc>
                <a:tc>
                  <a:txBody>
                    <a:bodyPr/>
                    <a:lstStyle/>
                    <a:p>
                      <a:pPr lvl="0" indent="0" marL="0">
                        <a:buNone/>
                      </a:pPr>
                      <a:r>
                        <a:rPr/>
                        <a:t>Mise à jour par matricule</a:t>
                      </a:r>
                    </a:p>
                  </a:txBody>
                </a:tc>
              </a:tr>
              <a:tr h="0">
                <a:tc>
                  <a:txBody>
                    <a:bodyPr/>
                    <a:lstStyle/>
                    <a:p>
                      <a:pPr lvl="0" indent="0" marL="0">
                        <a:buNone/>
                      </a:pPr>
                      <a:r>
                        <a:rPr/>
                        <a:t>🗑️ </a:t>
                      </a:r>
                      <a:r>
                        <a:rPr b="1"/>
                        <a:t>Supprimer</a:t>
                      </a:r>
                    </a:p>
                  </a:txBody>
                </a:tc>
                <a:tc>
                  <a:txBody>
                    <a:bodyPr/>
                    <a:lstStyle/>
                    <a:p>
                      <a:pPr lvl="0" indent="0" marL="0">
                        <a:buNone/>
                      </a:pPr>
                      <a:r>
                        <a:rPr/>
                        <a:t>Suppression par matricule</a:t>
                      </a:r>
                    </a:p>
                  </a:txBody>
                </a:tc>
              </a:tr>
              <a:tr h="0">
                <a:tc>
                  <a:txBody>
                    <a:bodyPr/>
                    <a:lstStyle/>
                    <a:p>
                      <a:pPr lvl="0" indent="0" marL="0">
                        <a:buNone/>
                      </a:pPr>
                      <a:r>
                        <a:rPr/>
                        <a:t>↕️ </a:t>
                      </a:r>
                      <a:r>
                        <a:rPr b="1"/>
                        <a:t>Trier</a:t>
                      </a:r>
                    </a:p>
                  </a:txBody>
                </a:tc>
                <a:tc>
                  <a:txBody>
                    <a:bodyPr/>
                    <a:lstStyle/>
                    <a:p>
                      <a:pPr lvl="0" indent="0" marL="0">
                        <a:buNone/>
                      </a:pPr>
                      <a:r>
                        <a:rPr/>
                        <a:t>Par nom ou par classe</a:t>
                      </a:r>
                    </a:p>
                  </a:txBody>
                </a:tc>
              </a:tr>
            </a:tbl>
          </a:graphicData>
        </a:graphic>
      </p:graphicFrame>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DIAPOSITIVE 13 : INTERFACE CONSOLE</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Version Console (CMD)</a:t>
            </a:r>
          </a:p>
        </p:txBody>
      </p:sp>
      <p:sp>
        <p:nvSpPr>
          <p:cNvPr id="3" name="Content Placeholder 2"/>
          <p:cNvSpPr>
            <a:spLocks noGrp="1"/>
          </p:cNvSpPr>
          <p:nvPr>
            <p:ph idx="1"/>
          </p:nvPr>
        </p:nvSpPr>
        <p:spPr/>
        <p:txBody>
          <a:bodyPr/>
          <a:lstStyle/>
          <a:p>
            <a:pPr lvl="0" indent="0" marL="0">
              <a:spcBef>
                <a:spcPts val="3000"/>
              </a:spcBef>
              <a:buNone/>
            </a:pPr>
            <a:r>
              <a:rPr b="1"/>
              <a:t>Caractéristiques</a:t>
            </a:r>
          </a:p>
          <a:p>
            <a:pPr lvl="0"/>
            <a:r>
              <a:rPr/>
              <a:t>Menu interactif</a:t>
            </a:r>
          </a:p>
          <a:p>
            <a:pPr lvl="0"/>
            <a:r>
              <a:rPr/>
              <a:t>Couleurs ANSI</a:t>
            </a:r>
          </a:p>
          <a:p>
            <a:pPr lvl="0"/>
            <a:r>
              <a:rPr/>
              <a:t>Messages d’erreur/succès</a:t>
            </a:r>
          </a:p>
          <a:p>
            <a:pPr lvl="0"/>
            <a:r>
              <a:rPr/>
              <a:t>Saisie sécurisée</a:t>
            </a:r>
          </a:p>
          <a:p>
            <a:pPr lvl="0" indent="0" marL="0">
              <a:spcBef>
                <a:spcPts val="3000"/>
              </a:spcBef>
              <a:buNone/>
            </a:pPr>
            <a:r>
              <a:rPr b="1"/>
              <a:t>Capture d’écran (Concept)</a:t>
            </a:r>
          </a:p>
          <a:p>
            <a:pPr lvl="0" indent="0">
              <a:buNone/>
            </a:pPr>
            <a:r>
              <a:rPr>
                <a:latin typeface="Courier"/>
              </a:rPr>
              <a:t>========================================
     GESTION DES ÉTUDIANTS - USTM
========================================
     1. Ajouter un étudiant
     2. Afficher tous les étudiants
     3. Rechercher par nom
     0. Quitter
     Votre choix : _</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DIAPOSITIVE 14 : INTERFACE GRAPHIQUE</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Version Graphique (GTK+)</a:t>
            </a:r>
          </a:p>
        </p:txBody>
      </p:sp>
      <p:sp>
        <p:nvSpPr>
          <p:cNvPr id="3" name="Content Placeholder 2"/>
          <p:cNvSpPr>
            <a:spLocks noGrp="1"/>
          </p:cNvSpPr>
          <p:nvPr>
            <p:ph idx="1"/>
          </p:nvPr>
        </p:nvSpPr>
        <p:spPr/>
        <p:txBody>
          <a:bodyPr/>
          <a:lstStyle/>
          <a:p>
            <a:pPr lvl="0" indent="0" marL="0">
              <a:spcBef>
                <a:spcPts val="3000"/>
              </a:spcBef>
              <a:buNone/>
            </a:pPr>
            <a:r>
              <a:rPr b="1"/>
              <a:t>Composants</a:t>
            </a:r>
          </a:p>
          <a:p>
            <a:pPr lvl="0"/>
            <a:r>
              <a:rPr b="1"/>
              <a:t>Champs de saisie</a:t>
            </a:r>
            <a:r>
              <a:rPr/>
              <a:t> : Nom, Prénom, Classe, Email, Matricule, Sexe</a:t>
            </a:r>
          </a:p>
          <a:p>
            <a:pPr lvl="0"/>
            <a:r>
              <a:rPr b="1"/>
              <a:t>Boutons</a:t>
            </a:r>
            <a:r>
              <a:rPr/>
              <a:t> : Insérer, Afficher, Rechercher, Modifier, Supprimer</a:t>
            </a:r>
          </a:p>
          <a:p>
            <a:pPr lvl="0"/>
            <a:r>
              <a:rPr b="1"/>
              <a:t>TreeView</a:t>
            </a:r>
            <a:r>
              <a:rPr/>
              <a:t> : Affichage tabulaire</a:t>
            </a:r>
          </a:p>
          <a:p>
            <a:pPr lvl="0" indent="0" marL="0">
              <a:spcBef>
                <a:spcPts val="3000"/>
              </a:spcBef>
              <a:buNone/>
            </a:pPr>
            <a:r>
              <a:rPr b="1"/>
              <a:t>Bibliothèques</a:t>
            </a:r>
          </a:p>
          <a:p>
            <a:pPr lvl="0"/>
            <a:r>
              <a:rPr/>
              <a:t>GTK+ 3.0</a:t>
            </a:r>
          </a:p>
          <a:p>
            <a:pPr lvl="0"/>
            <a:r>
              <a:rPr/>
              <a:t>GLib</a:t>
            </a:r>
          </a:p>
          <a:p>
            <a:pPr lvl="0"/>
            <a:r>
              <a:rPr/>
              <a:t>GDK</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DIAPOSITIVE 15 : APPLICATIONS AU GABON</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 Contexte Gabonais</a:t>
            </a:r>
          </a:p>
        </p:txBody>
      </p:sp>
      <p:sp>
        <p:nvSpPr>
          <p:cNvPr id="4" name="Text Placeholder 3"/>
          <p:cNvSpPr>
            <a:spLocks noGrp="1"/>
          </p:cNvSpPr>
          <p:nvPr>
            <p:ph idx="2" sz="half" type="body"/>
          </p:nvPr>
        </p:nvSpPr>
        <p:spPr/>
        <p:txBody>
          <a:bodyPr/>
          <a:lstStyle/>
          <a:p>
            <a:pPr lvl="0" indent="0" marL="0">
              <a:spcBef>
                <a:spcPts val="3000"/>
              </a:spcBef>
              <a:buNone/>
            </a:pPr>
            <a:r>
              <a:rPr b="1"/>
              <a:t>Problématiques Locales</a:t>
            </a:r>
          </a:p>
          <a:p>
            <a:pPr lvl="0" indent="-342900" marL="342900">
              <a:buAutoNum type="arabicPeriod"/>
            </a:pPr>
            <a:r>
              <a:rPr b="1"/>
              <a:t>Gestion administrative</a:t>
            </a:r>
            <a:r>
              <a:rPr/>
              <a:t> des milliers d’étudiants</a:t>
            </a:r>
          </a:p>
          <a:p>
            <a:pPr lvl="0" indent="-342900" marL="342900">
              <a:buAutoNum type="arabicPeriod"/>
            </a:pPr>
            <a:r>
              <a:rPr b="1"/>
              <a:t>Archives mixtes</a:t>
            </a:r>
            <a:r>
              <a:rPr/>
              <a:t> (papier → numérique)</a:t>
            </a:r>
          </a:p>
          <a:p>
            <a:pPr lvl="0" indent="-342900" marL="342900">
              <a:buAutoNum type="arabicPeriod"/>
            </a:pPr>
            <a:r>
              <a:rPr b="1"/>
              <a:t>Ressources limitées</a:t>
            </a:r>
            <a:r>
              <a:rPr/>
              <a:t> (infrastructure)</a:t>
            </a:r>
          </a:p>
          <a:p>
            <a:pPr lvl="0" indent="0" marL="0">
              <a:spcBef>
                <a:spcPts val="3000"/>
              </a:spcBef>
              <a:buNone/>
            </a:pPr>
            <a:r>
              <a:rPr b="1"/>
              <a:t>Solutions Proposées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Institution</a:t>
                      </a:r>
                    </a:p>
                  </a:txBody>
                  <a:tcPr/>
                </a:tc>
                <a:tc>
                  <a:txBody>
                    <a:bodyPr/>
                    <a:lstStyle/>
                    <a:p>
                      <a:pPr lvl="0" indent="0" marL="0">
                        <a:buNone/>
                      </a:pPr>
                      <a:r>
                        <a:rPr/>
                        <a:t>Application</a:t>
                      </a:r>
                    </a:p>
                  </a:txBody>
                  <a:tcPr/>
                </a:tc>
              </a:tr>
              <a:tr h="0">
                <a:tc>
                  <a:txBody>
                    <a:bodyPr/>
                    <a:lstStyle/>
                    <a:p>
                      <a:pPr lvl="0" indent="0" marL="0">
                        <a:buNone/>
                      </a:pPr>
                      <a:r>
                        <a:rPr/>
                        <a:t>USTM / UOB</a:t>
                      </a:r>
                    </a:p>
                  </a:txBody>
                </a:tc>
                <a:tc>
                  <a:txBody>
                    <a:bodyPr/>
                    <a:lstStyle/>
                    <a:p>
                      <a:pPr lvl="0" indent="0" marL="0">
                        <a:buNone/>
                      </a:pPr>
                      <a:r>
                        <a:rPr/>
                        <a:t>Gestion des inscriptions</a:t>
                      </a:r>
                    </a:p>
                  </a:txBody>
                </a:tc>
              </a:tr>
              <a:tr h="0">
                <a:tc>
                  <a:txBody>
                    <a:bodyPr/>
                    <a:lstStyle/>
                    <a:p>
                      <a:pPr lvl="0" indent="0" marL="0">
                        <a:buNone/>
                      </a:pPr>
                      <a:r>
                        <a:rPr/>
                        <a:t>Lycées / Collèges</a:t>
                      </a:r>
                    </a:p>
                  </a:txBody>
                </a:tc>
                <a:tc>
                  <a:txBody>
                    <a:bodyPr/>
                    <a:lstStyle/>
                    <a:p>
                      <a:pPr lvl="0" indent="0" marL="0">
                        <a:buNone/>
                      </a:pPr>
                      <a:r>
                        <a:rPr/>
                        <a:t>Gestion des élèves</a:t>
                      </a:r>
                    </a:p>
                  </a:txBody>
                </a:tc>
              </a:tr>
              <a:tr h="0">
                <a:tc>
                  <a:txBody>
                    <a:bodyPr/>
                    <a:lstStyle/>
                    <a:p>
                      <a:pPr lvl="0" indent="0" marL="0">
                        <a:buNone/>
                      </a:pPr>
                      <a:r>
                        <a:rPr/>
                        <a:t>Administrations</a:t>
                      </a:r>
                    </a:p>
                  </a:txBody>
                </a:tc>
                <a:tc>
                  <a:txBody>
                    <a:bodyPr/>
                    <a:lstStyle/>
                    <a:p>
                      <a:pPr lvl="0" indent="0" marL="0">
                        <a:buNone/>
                      </a:pPr>
                      <a:r>
                        <a:rPr/>
                        <a:t>Archives numériques</a:t>
                      </a:r>
                    </a:p>
                  </a:txBody>
                </a:tc>
              </a:tr>
            </a:tbl>
          </a:graphicData>
        </a:graphic>
      </p:graphicFrame>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DIAPOSITIVE 16 : CAS D’USAGE</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Exemples d’Utilisation</a:t>
            </a:r>
          </a:p>
        </p:txBody>
      </p:sp>
      <p:sp>
        <p:nvSpPr>
          <p:cNvPr id="3" name="Content Placeholder 2"/>
          <p:cNvSpPr>
            <a:spLocks noGrp="1"/>
          </p:cNvSpPr>
          <p:nvPr>
            <p:ph idx="1"/>
          </p:nvPr>
        </p:nvSpPr>
        <p:spPr/>
        <p:txBody>
          <a:bodyPr/>
          <a:lstStyle/>
          <a:p>
            <a:pPr lvl="0" indent="0" marL="0">
              <a:spcBef>
                <a:spcPts val="3000"/>
              </a:spcBef>
              <a:buNone/>
            </a:pPr>
            <a:r>
              <a:rPr b="1"/>
              <a:t>1. Inscription Annuelle</a:t>
            </a:r>
          </a:p>
          <a:p>
            <a:pPr lvl="0"/>
            <a:r>
              <a:rPr/>
              <a:t>Ajout de centaines de nouveaux étudiants</a:t>
            </a:r>
          </a:p>
          <a:p>
            <a:pPr lvl="0"/>
            <a:r>
              <a:rPr/>
              <a:t>Tri automatique par nom</a:t>
            </a:r>
          </a:p>
          <a:p>
            <a:pPr lvl="0"/>
            <a:r>
              <a:rPr/>
              <a:t>Matricule unique généré</a:t>
            </a:r>
          </a:p>
          <a:p>
            <a:pPr lvl="0" indent="0" marL="0">
              <a:spcBef>
                <a:spcPts val="3000"/>
              </a:spcBef>
              <a:buNone/>
            </a:pPr>
            <a:r>
              <a:rPr b="1"/>
              <a:t>2. Mise à Jour</a:t>
            </a:r>
          </a:p>
          <a:p>
            <a:pPr lvl="0"/>
            <a:r>
              <a:rPr/>
              <a:t>Changement de classe</a:t>
            </a:r>
          </a:p>
          <a:p>
            <a:pPr lvl="0"/>
            <a:r>
              <a:rPr/>
              <a:t>Modification d’email</a:t>
            </a:r>
          </a:p>
          <a:p>
            <a:pPr lvl="0"/>
            <a:r>
              <a:rPr/>
              <a:t>Correction d’erreurs</a:t>
            </a:r>
          </a:p>
          <a:p>
            <a:pPr lvl="0" indent="0" marL="0">
              <a:spcBef>
                <a:spcPts val="3000"/>
              </a:spcBef>
              <a:buNone/>
            </a:pPr>
            <a:r>
              <a:rPr b="1"/>
              <a:t>3. Recherche</a:t>
            </a:r>
          </a:p>
          <a:p>
            <a:pPr lvl="0"/>
            <a:r>
              <a:rPr/>
              <a:t>Retrouver un étudiant par son nom</a:t>
            </a:r>
          </a:p>
          <a:p>
            <a:pPr lvl="0"/>
            <a:r>
              <a:rPr/>
              <a:t>Préparer les listes d’examens</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DIAPOSITIVE 17 : AVANTAGES TECHNIQUES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Points Forts du Système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Avantage</a:t>
                      </a:r>
                    </a:p>
                  </a:txBody>
                  <a:tcPr/>
                </a:tc>
                <a:tc>
                  <a:txBody>
                    <a:bodyPr/>
                    <a:lstStyle/>
                    <a:p>
                      <a:pPr lvl="0" indent="0" marL="0">
                        <a:buNone/>
                      </a:pPr>
                      <a:r>
                        <a:rPr/>
                        <a:t>Description</a:t>
                      </a:r>
                    </a:p>
                  </a:txBody>
                  <a:tcPr/>
                </a:tc>
              </a:tr>
              <a:tr h="0">
                <a:tc>
                  <a:txBody>
                    <a:bodyPr/>
                    <a:lstStyle/>
                    <a:p>
                      <a:pPr lvl="0" indent="0" marL="0">
                        <a:buNone/>
                      </a:pPr>
                      <a:r>
                        <a:rPr b="1"/>
                        <a:t>Léger</a:t>
                      </a:r>
                    </a:p>
                  </a:txBody>
                </a:tc>
                <a:tc>
                  <a:txBody>
                    <a:bodyPr/>
                    <a:lstStyle/>
                    <a:p>
                      <a:pPr lvl="0" indent="0" marL="0">
                        <a:buNone/>
                      </a:pPr>
                      <a:r>
                        <a:rPr/>
                        <a:t>Fonctionne sur PC modeste</a:t>
                      </a:r>
                    </a:p>
                  </a:txBody>
                </a:tc>
              </a:tr>
              <a:tr h="0">
                <a:tc>
                  <a:txBody>
                    <a:bodyPr/>
                    <a:lstStyle/>
                    <a:p>
                      <a:pPr lvl="0" indent="0" marL="0">
                        <a:buNone/>
                      </a:pPr>
                      <a:r>
                        <a:rPr b="1"/>
                        <a:t>Gratuit</a:t>
                      </a:r>
                    </a:p>
                  </a:txBody>
                </a:tc>
                <a:tc>
                  <a:txBody>
                    <a:bodyPr/>
                    <a:lstStyle/>
                    <a:p>
                      <a:pPr lvl="0" indent="0" marL="0">
                        <a:buNone/>
                      </a:pPr>
                      <a:r>
                        <a:rPr/>
                        <a:t>Pas de licence, open source</a:t>
                      </a:r>
                    </a:p>
                  </a:txBody>
                </a:tc>
              </a:tr>
              <a:tr h="0">
                <a:tc>
                  <a:txBody>
                    <a:bodyPr/>
                    <a:lstStyle/>
                    <a:p>
                      <a:pPr lvl="0" indent="0" marL="0">
                        <a:buNone/>
                      </a:pPr>
                      <a:r>
                        <a:rPr b="1"/>
                        <a:t>Standard</a:t>
                      </a:r>
                    </a:p>
                  </a:txBody>
                </a:tc>
                <a:tc>
                  <a:txBody>
                    <a:bodyPr/>
                    <a:lstStyle/>
                    <a:p>
                      <a:pPr lvl="0" indent="0" marL="0">
                        <a:buNone/>
                      </a:pPr>
                      <a:r>
                        <a:rPr/>
                        <a:t>Format CSV interopérable</a:t>
                      </a:r>
                    </a:p>
                  </a:txBody>
                </a:tc>
              </a:tr>
              <a:tr h="0">
                <a:tc>
                  <a:txBody>
                    <a:bodyPr/>
                    <a:lstStyle/>
                    <a:p>
                      <a:pPr lvl="0" indent="0" marL="0">
                        <a:buNone/>
                      </a:pPr>
                      <a:r>
                        <a:rPr b="1"/>
                        <a:t>Efficace</a:t>
                      </a:r>
                    </a:p>
                  </a:txBody>
                </a:tc>
                <a:tc>
                  <a:txBody>
                    <a:bodyPr/>
                    <a:lstStyle/>
                    <a:p>
                      <a:pPr lvl="0" indent="0" marL="0">
                        <a:buNone/>
                      </a:pPr>
                      <a:r>
                        <a:rPr/>
                        <a:t>Recherche binaire O(log n)</a:t>
                      </a:r>
                    </a:p>
                  </a:txBody>
                </a:tc>
              </a:tr>
              <a:tr h="0">
                <a:tc>
                  <a:txBody>
                    <a:bodyPr/>
                    <a:lstStyle/>
                    <a:p>
                      <a:pPr lvl="0" indent="0" marL="0">
                        <a:buNone/>
                      </a:pPr>
                      <a:r>
                        <a:rPr b="1"/>
                        <a:t>Double interface</a:t>
                      </a:r>
                    </a:p>
                  </a:txBody>
                </a:tc>
                <a:tc>
                  <a:txBody>
                    <a:bodyPr/>
                    <a:lstStyle/>
                    <a:p>
                      <a:pPr lvl="0" indent="0" marL="0">
                        <a:buNone/>
                      </a:pPr>
                      <a:r>
                        <a:rPr/>
                        <a:t>Console ou GUI</a:t>
                      </a:r>
                    </a:p>
                  </a:txBody>
                </a:tc>
              </a:tr>
            </a:tbl>
          </a:graphicData>
        </a:graphic>
      </p:graphicFrame>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DIAPOSITIVE 18 : COMPÉTENCES ACQUISES</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Objectifs Pédagogiques Atteints</a:t>
            </a:r>
          </a:p>
        </p:txBody>
      </p:sp>
      <p:sp>
        <p:nvSpPr>
          <p:cNvPr id="3" name="Content Placeholder 2"/>
          <p:cNvSpPr>
            <a:spLocks noGrp="1"/>
          </p:cNvSpPr>
          <p:nvPr>
            <p:ph idx="1"/>
          </p:nvPr>
        </p:nvSpPr>
        <p:spPr/>
        <p:txBody>
          <a:bodyPr/>
          <a:lstStyle/>
          <a:p>
            <a:pPr lvl="0"/>
            <a:r>
              <a:rPr/>
              <a:t>✅ Programmation </a:t>
            </a:r>
            <a:r>
              <a:rPr b="1"/>
              <a:t>modulaire</a:t>
            </a:r>
            <a:r>
              <a:rPr/>
              <a:t> en C</a:t>
            </a:r>
          </a:p>
          <a:p>
            <a:pPr lvl="0"/>
            <a:r>
              <a:rPr/>
              <a:t>✅ Utilisation des </a:t>
            </a:r>
            <a:r>
              <a:rPr b="1"/>
              <a:t>structures de données</a:t>
            </a:r>
          </a:p>
          <a:p>
            <a:pPr lvl="0"/>
            <a:r>
              <a:rPr/>
              <a:t>✅ </a:t>
            </a:r>
            <a:r>
              <a:rPr b="1"/>
              <a:t>Algorithmes</a:t>
            </a:r>
            <a:r>
              <a:rPr/>
              <a:t> de recherche et tri</a:t>
            </a:r>
          </a:p>
          <a:p>
            <a:pPr lvl="0"/>
            <a:r>
              <a:rPr/>
              <a:t>✅ Gestion de </a:t>
            </a:r>
            <a:r>
              <a:rPr b="1"/>
              <a:t>fichiers</a:t>
            </a:r>
            <a:r>
              <a:rPr/>
              <a:t> (CSV)</a:t>
            </a:r>
          </a:p>
          <a:p>
            <a:pPr lvl="0"/>
            <a:r>
              <a:rPr/>
              <a:t>✅ Développement d’</a:t>
            </a:r>
            <a:r>
              <a:rPr b="1"/>
              <a:t>interfaces</a:t>
            </a:r>
            <a:r>
              <a:rPr/>
              <a:t> (Console/GUI)</a:t>
            </a:r>
          </a:p>
          <a:p>
            <a:pPr lvl="0"/>
            <a:r>
              <a:rPr/>
              <a:t>✅ Utilisation du </a:t>
            </a:r>
            <a:r>
              <a:rPr b="1"/>
              <a:t>Makefile</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DIAPOSITIVE 19 : PERSPECTIVES</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Améliorations Futures</a:t>
            </a:r>
          </a:p>
        </p:txBody>
      </p:sp>
      <p:sp>
        <p:nvSpPr>
          <p:cNvPr id="3" name="Content Placeholder 2"/>
          <p:cNvSpPr>
            <a:spLocks noGrp="1"/>
          </p:cNvSpPr>
          <p:nvPr>
            <p:ph idx="1"/>
          </p:nvPr>
        </p:nvSpPr>
        <p:spPr/>
        <p:txBody>
          <a:bodyPr/>
          <a:lstStyle/>
          <a:p>
            <a:pPr lvl="0" indent="0" marL="0">
              <a:spcBef>
                <a:spcPts val="3000"/>
              </a:spcBef>
              <a:buNone/>
            </a:pPr>
            <a:r>
              <a:rPr b="1"/>
              <a:t>Court Terme</a:t>
            </a:r>
          </a:p>
          <a:p>
            <a:pPr lvl="0"/>
            <a:r>
              <a:rPr/>
              <a:t>☐ Export PDF des listes</a:t>
            </a:r>
          </a:p>
          <a:p>
            <a:pPr lvl="0"/>
            <a:r>
              <a:rPr/>
              <a:t>☐ Import depuis Excel</a:t>
            </a:r>
          </a:p>
          <a:p>
            <a:pPr lvl="0" indent="0" marL="0">
              <a:spcBef>
                <a:spcPts val="3000"/>
              </a:spcBef>
              <a:buNone/>
            </a:pPr>
            <a:r>
              <a:rPr b="1"/>
              <a:t>Long Terme</a:t>
            </a:r>
          </a:p>
          <a:p>
            <a:pPr lvl="0"/>
            <a:r>
              <a:rPr/>
              <a:t>☐ Base de données SQLite</a:t>
            </a:r>
          </a:p>
          <a:p>
            <a:pPr lvl="0"/>
            <a:r>
              <a:rPr/>
              <a:t>☐ Interface Web</a:t>
            </a:r>
          </a:p>
          <a:p>
            <a:pPr lvl="0"/>
            <a:r>
              <a:rPr/>
              <a:t>☐ Application mobile</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DIAPOSITIVE 20 : CONCLUSION</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Résumé</a:t>
            </a:r>
          </a:p>
        </p:txBody>
      </p:sp>
      <p:sp>
        <p:nvSpPr>
          <p:cNvPr id="3" name="Content Placeholder 2"/>
          <p:cNvSpPr>
            <a:spLocks noGrp="1"/>
          </p:cNvSpPr>
          <p:nvPr>
            <p:ph idx="1"/>
          </p:nvPr>
        </p:nvSpPr>
        <p:spPr/>
        <p:txBody>
          <a:bodyPr/>
          <a:lstStyle/>
          <a:p>
            <a:pPr lvl="0" indent="0" marL="0">
              <a:buNone/>
            </a:pPr>
            <a:r>
              <a:rPr/>
              <a:t>Ce projet a permis de développer : - Une </a:t>
            </a:r>
            <a:r>
              <a:rPr b="1"/>
              <a:t>application complète</a:t>
            </a:r>
            <a:r>
              <a:rPr/>
              <a:t> de gestion des étudiants - </a:t>
            </a:r>
            <a:r>
              <a:rPr b="1"/>
              <a:t>Deux interfaces</a:t>
            </a:r>
            <a:r>
              <a:rPr/>
              <a:t> (Console et GUI) - Un </a:t>
            </a:r>
            <a:r>
              <a:rPr b="1"/>
              <a:t>algorithme performant</a:t>
            </a:r>
            <a:r>
              <a:rPr/>
              <a:t> de recherche binaire - Une </a:t>
            </a:r>
            <a:r>
              <a:rPr b="1"/>
              <a:t>solution adaptée</a:t>
            </a:r>
            <a:r>
              <a:rPr/>
              <a:t> au contexte africain</a:t>
            </a:r>
          </a:p>
          <a:p>
            <a:pPr lvl="0" indent="0" marL="0">
              <a:spcBef>
                <a:spcPts val="3000"/>
              </a:spcBef>
              <a:buNone/>
            </a:pPr>
            <a:r>
              <a:rPr b="1"/>
              <a:t>Message Final</a:t>
            </a:r>
          </a:p>
          <a:p>
            <a:pPr lvl="0" indent="0" marL="1270000">
              <a:buNone/>
            </a:pPr>
            <a:r>
              <a:rPr sz="2000" i="1"/>
              <a:t>“La programmation avancée permet de résoudre des problèmes réels avec efficacité et élégance.”</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DIAPOSITIVE 21 : REMERCIEMENTS</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Remerciements</a:t>
            </a:r>
          </a:p>
        </p:txBody>
      </p:sp>
      <p:sp>
        <p:nvSpPr>
          <p:cNvPr id="3" name="Content Placeholder 2"/>
          <p:cNvSpPr>
            <a:spLocks noGrp="1"/>
          </p:cNvSpPr>
          <p:nvPr>
            <p:ph idx="1"/>
          </p:nvPr>
        </p:nvSpPr>
        <p:spPr/>
        <p:txBody>
          <a:bodyPr/>
          <a:lstStyle/>
          <a:p>
            <a:pPr lvl="0" indent="0" marL="0">
              <a:buNone/>
            </a:pPr>
            <a:r>
              <a:rPr b="1"/>
              <a:t>À :</a:t>
            </a:r>
            <a:r>
              <a:rPr/>
              <a:t> - Notre professeur de Programmation Avancée - L’USTM pour l’environnement de travail - Nos camarades pour la collaboration</a:t>
            </a:r>
          </a:p>
          <a:p>
            <a:pPr lvl="0" indent="0" marL="0">
              <a:buNone/>
            </a:pPr>
            <a:r>
              <a:rPr b="1"/>
              <a:t>Contact :</a:t>
            </a:r>
            <a:r>
              <a:rPr/>
              <a:t> - Email : [À compléter] - Université : USTM</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DIAPOSITIVE 22 : QUESTIONS</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Questions ?</a:t>
            </a:r>
          </a:p>
        </p:txBody>
      </p:sp>
      <p:sp>
        <p:nvSpPr>
          <p:cNvPr id="3" name="Content Placeholder 2"/>
          <p:cNvSpPr>
            <a:spLocks noGrp="1"/>
          </p:cNvSpPr>
          <p:nvPr>
            <p:ph idx="1"/>
          </p:nvPr>
        </p:nvSpPr>
        <p:spPr/>
        <p:txBody>
          <a:bodyPr/>
          <a:lstStyle/>
          <a:p>
            <a:pPr lvl="0" indent="0" marL="0">
              <a:spcBef>
                <a:spcPts val="3000"/>
              </a:spcBef>
              <a:buNone/>
            </a:pPr>
            <a:r>
              <a:rPr b="1"/>
              <a:t>Merci de votre attention !</a:t>
            </a:r>
          </a:p>
          <a:p>
            <a:pPr lvl="0" indent="0" marL="0">
              <a:buNone/>
            </a:pPr>
            <a:r>
              <a:rPr i="1"/>
              <a:t>N’hésitez pas à poser vos questions</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INFORMATIONS SUPPLÉMENTAIRES</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Pour créer le fichier PPTX</a:t>
            </a:r>
          </a:p>
        </p:txBody>
      </p:sp>
      <p:sp>
        <p:nvSpPr>
          <p:cNvPr id="3" name="Content Placeholder 2"/>
          <p:cNvSpPr>
            <a:spLocks noGrp="1"/>
          </p:cNvSpPr>
          <p:nvPr>
            <p:ph idx="1"/>
          </p:nvPr>
        </p:nvSpPr>
        <p:spPr/>
        <p:txBody>
          <a:bodyPr/>
          <a:lstStyle/>
          <a:p>
            <a:pPr lvl="0" indent="0" marL="0">
              <a:buNone/>
            </a:pPr>
            <a:r>
              <a:rPr/>
              <a:t>Vous pouvez utiliser l’un des outils suivants :</a:t>
            </a:r>
          </a:p>
          <a:p>
            <a:pPr lvl="0" indent="-342900" marL="342900">
              <a:buAutoNum type="arabicPeriod"/>
            </a:pPr>
            <a:r>
              <a:rPr b="1"/>
              <a:t>Microsoft PowerPoint</a:t>
            </a:r>
            <a:r>
              <a:rPr/>
              <a:t> (Windows/Mac)</a:t>
            </a:r>
          </a:p>
          <a:p>
            <a:pPr lvl="0" indent="-342900" marL="342900">
              <a:buAutoNum type="arabicPeriod"/>
            </a:pPr>
            <a:r>
              <a:rPr b="1"/>
              <a:t>LibreOffice Impress</a:t>
            </a:r>
            <a:r>
              <a:rPr/>
              <a:t> (Linux/Windows/Mac)</a:t>
            </a:r>
          </a:p>
          <a:p>
            <a:pPr lvl="0" indent="-342900" marL="342900">
              <a:buAutoNum type="arabicPeriod"/>
            </a:pPr>
            <a:r>
              <a:rPr b="1"/>
              <a:t>Google Slides</a:t>
            </a:r>
            <a:r>
              <a:rPr/>
              <a:t> (En ligne)</a:t>
            </a:r>
          </a:p>
          <a:p>
            <a:pPr lvl="0" indent="-342900" marL="342900">
              <a:buAutoNum type="arabicPeriod"/>
            </a:pPr>
            <a:r>
              <a:rPr b="1"/>
              <a:t>pandoc</a:t>
            </a:r>
            <a:r>
              <a:rPr/>
              <a:t> (Conversion depuis Markdown)</a:t>
            </a:r>
          </a:p>
          <a:p>
            <a:pPr lvl="0" indent="0" marL="0">
              <a:spcBef>
                <a:spcPts val="3000"/>
              </a:spcBef>
              <a:buNone/>
            </a:pPr>
            <a:r>
              <a:rPr b="1"/>
              <a:t>Exemple avec pandoc :</a:t>
            </a:r>
          </a:p>
          <a:p>
            <a:pPr lvl="0" indent="0">
              <a:buNone/>
            </a:pPr>
            <a:r>
              <a:rPr>
                <a:latin typeface="Courier"/>
              </a:rPr>
              <a:t>pandoc </a:t>
            </a:r>
            <a:r>
              <a:rPr>
                <a:solidFill>
                  <a:srgbClr val="7D9029"/>
                </a:solidFill>
                <a:latin typeface="Courier"/>
              </a:rPr>
              <a:t>-o</a:t>
            </a:r>
            <a:r>
              <a:rPr>
                <a:latin typeface="Courier"/>
              </a:rPr>
              <a:t> presentation.pptx Presentation_PowerPoint.md</a:t>
            </a:r>
          </a:p>
          <a:p>
            <a:pPr lvl="0" indent="0" marL="0">
              <a:spcBef>
                <a:spcPts val="3000"/>
              </a:spcBef>
              <a:buNone/>
            </a:pPr>
            <a:r>
              <a:rPr b="1"/>
              <a:t>Suggestion de design :</a:t>
            </a:r>
          </a:p>
          <a:p>
            <a:pPr lvl="0"/>
            <a:r>
              <a:rPr/>
              <a:t>Couleurs : Bleu USTM (#003366)</a:t>
            </a:r>
          </a:p>
          <a:p>
            <a:pPr lvl="0"/>
            <a:r>
              <a:rPr/>
              <a:t>Police : Arial ou Liberation Sans</a:t>
            </a:r>
          </a:p>
          <a:p>
            <a:pPr lvl="0"/>
            <a:r>
              <a:rPr/>
              <a:t>Images : Logo USTM, captures d’écran</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Fin de la présentation</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2026-03-09T01:55:02Z</dcterms:created>
  <dcterms:modified xsi:type="dcterms:W3CDTF">2026-03-09T01:55:02Z</dcterms:modified>
</cp:coreProperties>
</file>

<file path=docProps/custom.xml><?xml version="1.0" encoding="utf-8"?>
<Properties xmlns="http://schemas.openxmlformats.org/officeDocument/2006/custom-properties" xmlns:vt="http://schemas.openxmlformats.org/officeDocument/2006/docPropsVTypes"/>
</file>