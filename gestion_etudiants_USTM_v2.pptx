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"/>
            <a:ext cx="3200400" cy="3200400"/>
          </a:xfrm>
          <a:prstGeom prst="ellipse">
            <a:avLst/>
          </a:prstGeom>
          <a:solidFill>
            <a:srgbClr val="2E8B57">
              <a:alpha val="30000"/>
            </a:srgbClr>
          </a:solidFill>
          <a:ln w="12700">
            <a:solidFill>
              <a:srgbClr val="2E8B57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914400"/>
            <a:ext cx="2103120" cy="2103120"/>
          </a:xfrm>
          <a:prstGeom prst="ellipse">
            <a:avLst/>
          </a:prstGeom>
          <a:solidFill>
            <a:srgbClr val="FCD116">
              <a:alpha val="20000"/>
            </a:srgbClr>
          </a:solidFill>
          <a:ln w="12700">
            <a:solidFill>
              <a:srgbClr val="FCD11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20040"/>
            <a:ext cx="2560320" cy="411480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3C"/>
                </a:solidFill>
              </a:rPr>
              <a:t>USTM — DUT2-GRT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Gestion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Étudiants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E6D5"/>
                </a:solidFill>
              </a:rPr>
              <a:t>Recherche d'information &amp; Insertion triée en langage 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1965960" cy="347472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375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Structures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3337560"/>
            <a:ext cx="1965960" cy="347472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33375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Fichiers CSV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337560"/>
            <a:ext cx="1965960" cy="347472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3375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Tri alphabétique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3337560"/>
            <a:ext cx="1965960" cy="347472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33375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Recherche binaire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C8B0"/>
                </a:solidFill>
              </a:rPr>
              <a:t>Programmation Avancée  •  Semestre S1  •  2025-2026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0" y="109728"/>
            <a:ext cx="457200" cy="1618488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1728216"/>
            <a:ext cx="457200" cy="1618488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3346704"/>
            <a:ext cx="457200" cy="1572768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CD116"/>
                </a:solidFill>
              </a:rPr>
              <a:t>Plan de la présentation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640080" cy="713232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116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14300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24"/>
                </a:solidFill>
              </a:rPr>
              <a:t>Introduction &amp; Problématique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143000"/>
            <a:ext cx="640080" cy="713232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4300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116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114300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24"/>
                </a:solidFill>
              </a:rPr>
              <a:t>Concept : Structures &amp; Fichiers CSV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039112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39112"/>
            <a:ext cx="640080" cy="713232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39112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116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039112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24"/>
                </a:solidFill>
              </a:rPr>
              <a:t>Plan de réalisation — Vue d'ensemble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039112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039112"/>
            <a:ext cx="640080" cy="713232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039112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116"/>
                </a:solidFill>
              </a:rPr>
              <a:t>04–09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2039112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24"/>
                </a:solidFill>
              </a:rPr>
              <a:t>Étapes détaillées du projet (6 étapes)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935224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935224"/>
            <a:ext cx="640080" cy="713232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35224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116"/>
                </a:solidFill>
              </a:rPr>
              <a:t>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2935224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24"/>
                </a:solidFill>
              </a:rPr>
              <a:t>Simulation &amp; Résultats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935224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935224"/>
            <a:ext cx="640080" cy="713232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935224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116"/>
                </a:solidFill>
              </a:rPr>
              <a:t>11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77840" y="2935224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24"/>
                </a:solidFill>
              </a:rPr>
              <a:t>Difficultés &amp; Solutions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831336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831336"/>
            <a:ext cx="640080" cy="713232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83133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116"/>
                </a:solidFill>
              </a:rPr>
              <a:t>12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88720" y="3831336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24"/>
                </a:solidFill>
              </a:rPr>
              <a:t>Bilan &amp; Perspectives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3831336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831336"/>
            <a:ext cx="640080" cy="713232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83133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116"/>
                </a:solidFill>
              </a:rPr>
              <a:t>13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77840" y="3831336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24"/>
                </a:solidFill>
              </a:rPr>
              <a:t>Références bibliographiques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116"/>
                </a:solidFill>
              </a:rPr>
              <a:t>Introduction &amp; Problématique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663440" cy="356616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B3C"/>
                </a:solidFill>
              </a:rPr>
              <a:t>Problématique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663440" cy="45720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37360"/>
            <a:ext cx="4297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D24"/>
                </a:solidFill>
              </a:rPr>
              <a:t>La recherche d'informations est cruciale dans de nombreux domaines administratifs.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D24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D24"/>
                </a:solidFill>
              </a:rPr>
              <a:t>Les archives papier ou numériques posent un défi commun 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D24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D24"/>
                </a:solidFill>
              </a:rPr>
              <a:t>🔎  Retrouver une information rapidement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D24"/>
                </a:solidFill>
              </a:rPr>
              <a:t>📌  Insérer une information au bon endroit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D24"/>
                </a:solidFill>
              </a:rPr>
              <a:t>⚡  Maintenir un ordre cohérent des données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0" y="1097280"/>
            <a:ext cx="3474720" cy="3566160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1097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116"/>
                </a:solidFill>
              </a:rPr>
              <a:t>Contexte Gabonais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3520" y="1554480"/>
            <a:ext cx="3474720" cy="45720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1828800"/>
            <a:ext cx="201168" cy="201168"/>
          </a:xfrm>
          <a:prstGeom prst="ellipse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79222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Universités (USTM, UOB…)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2359152"/>
            <a:ext cx="201168" cy="201168"/>
          </a:xfrm>
          <a:prstGeom prst="ellipse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232257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Hôpitaux &amp; centres de santé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2889504"/>
            <a:ext cx="201168" cy="201168"/>
          </a:xfrm>
          <a:prstGeom prst="ellipse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28529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Mairies &amp; administrations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0" y="3419856"/>
            <a:ext cx="201168" cy="201168"/>
          </a:xfrm>
          <a:prstGeom prst="ellipse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3383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Lycées &amp; collèges publics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0" y="3950208"/>
            <a:ext cx="201168" cy="201168"/>
          </a:xfrm>
          <a:prstGeom prst="ellipse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39136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Entreprises nationales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E2D24"/>
          </a:solidFill>
          <a:ln w="12700">
            <a:solidFill>
              <a:srgbClr val="1E2D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006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D116"/>
                </a:solidFill>
              </a:rPr>
              <a:t>Objectif : Développer un programme C gérant les étudiants dans un fichier CSV avec insertion alphabétique triée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116"/>
                </a:solidFill>
              </a:rPr>
              <a:t>Concept : Structures (struct) en langage 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840480" cy="100584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64008" cy="1005840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F87"/>
                </a:solidFill>
              </a:rPr>
              <a:t>Définition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24"/>
                </a:solidFill>
              </a:rPr>
              <a:t>Un struct regroupe des données de types différents sous un même nom — comme une fiche étudiant.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3840480" cy="2468880"/>
          </a:xfrm>
          <a:prstGeom prst="rect">
            <a:avLst/>
          </a:prstGeom>
          <a:solidFill>
            <a:srgbClr val="1E2D24"/>
          </a:solidFill>
          <a:ln w="12700">
            <a:solidFill>
              <a:srgbClr val="1E2D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40280"/>
            <a:ext cx="3840480" cy="347472"/>
          </a:xfrm>
          <a:prstGeom prst="rect">
            <a:avLst/>
          </a:prstGeom>
          <a:solidFill>
            <a:srgbClr val="111A14"/>
          </a:solidFill>
          <a:ln w="12700">
            <a:solidFill>
              <a:srgbClr val="111A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40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Code C — struct Etudiant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624328"/>
            <a:ext cx="3621024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nom[MAX_CHAMP];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prenom[MAX_CHAMP];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classe[MAX_CHAMP];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matricule[MAX_CHAMP];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email[MAX_CHAMP];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sex[MAX_CHAMP];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Etudiant;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097280"/>
            <a:ext cx="4206240" cy="365760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0972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D24"/>
                </a:solidFill>
              </a:rPr>
              <a:t>Champs d'un étudiant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1481328"/>
            <a:ext cx="4206240" cy="45720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664208"/>
            <a:ext cx="1188720" cy="347472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6642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Nom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16642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Obligatoire — trié alphabétiquement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148840"/>
            <a:ext cx="1188720" cy="347472"/>
          </a:xfrm>
          <a:prstGeom prst="rect">
            <a:avLst/>
          </a:prstGeom>
          <a:solidFill>
            <a:srgbClr val="003F87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1488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Prénom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2148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Obligatoire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633472"/>
            <a:ext cx="1188720" cy="347472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6334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Classe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26334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Ex: DUT2-GRT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118104"/>
            <a:ext cx="1188720" cy="347472"/>
          </a:xfrm>
          <a:prstGeom prst="rect">
            <a:avLst/>
          </a:prstGeom>
          <a:solidFill>
            <a:srgbClr val="003F87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1181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Matricule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31181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Unique — identifiant clé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602736"/>
            <a:ext cx="1188720" cy="347472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60273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Email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360273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Contact institutionnel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4087368"/>
            <a:ext cx="1188720" cy="347472"/>
          </a:xfrm>
          <a:prstGeom prst="rect">
            <a:avLst/>
          </a:prstGeom>
          <a:solidFill>
            <a:srgbClr val="003F87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40873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Sexe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0" y="40873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M / F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116"/>
                </a:solidFill>
              </a:rPr>
              <a:t>Concept : Fichiers CSV &amp; Persistance des données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657600" cy="91440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B3C"/>
                </a:solidFill>
              </a:rPr>
              <a:t>Qu'est-ce qu'un fichier CSV 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24"/>
                </a:solidFill>
              </a:rPr>
              <a:t>Comma-Separated Values : données tabulaires stockées en texte simple, lisibles par Excel, LibreOffice, et les programmes C.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8412480" cy="1463040"/>
          </a:xfrm>
          <a:prstGeom prst="rect">
            <a:avLst/>
          </a:prstGeom>
          <a:solidFill>
            <a:srgbClr val="1E2D24"/>
          </a:solidFill>
          <a:ln w="12700">
            <a:solidFill>
              <a:srgbClr val="1E2D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48840"/>
            <a:ext cx="8412480" cy="347472"/>
          </a:xfrm>
          <a:prstGeom prst="rect">
            <a:avLst/>
          </a:prstGeom>
          <a:solidFill>
            <a:srgbClr val="111A14"/>
          </a:solidFill>
          <a:ln w="12700">
            <a:solidFill>
              <a:srgbClr val="111A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48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Exemple — Etudiants.csv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532888"/>
            <a:ext cx="819302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nom;prenom;classe;email;matricule;sex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Akomy;Pierre;DUT2-GRT;p.akomy@ustm.ga;MAT2024001;M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Bignoumba;Lucie;DUT2-GRT;l.bignoumba@ustm.ga;MAT2024002;F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Moussavou;Jean;DUT2-INFO;j.moussavou@ustm.ga;MAT2024003;M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2468880" cy="1005840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7490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Programme 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0" y="4169664"/>
            <a:ext cx="914400" cy="109728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0" y="3749040"/>
            <a:ext cx="2468880" cy="1005840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37490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D116"/>
                </a:solidFill>
              </a:rPr>
              <a:t>Etudiants.csv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4169664"/>
            <a:ext cx="914400" cy="109728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3749040"/>
            <a:ext cx="1554480" cy="10058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37490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Excel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LibreOffice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116"/>
                </a:solidFill>
              </a:rPr>
              <a:t>Concept : Algorithmes de Tri &amp; Recherche Binaire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931920" cy="370332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F87"/>
                </a:solidFill>
              </a:rPr>
              <a:t>Insertion Triée Alphabétique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3931920" cy="45720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37360"/>
            <a:ext cx="384048" cy="384048"/>
          </a:xfrm>
          <a:prstGeom prst="ellipse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6916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24"/>
                </a:solidFill>
              </a:rPr>
              <a:t>Lire le fichier CSV dans un tableau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340864"/>
            <a:ext cx="384048" cy="384048"/>
          </a:xfrm>
          <a:prstGeom prst="ellipse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29514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24"/>
                </a:solidFill>
              </a:rPr>
              <a:t>Recherche binaire → position d'insertion O(log n)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944368"/>
            <a:ext cx="384048" cy="384048"/>
          </a:xfrm>
          <a:prstGeom prst="ellipse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8986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24"/>
                </a:solidFill>
              </a:rPr>
              <a:t>Décaler les éléments vers la droite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547872"/>
            <a:ext cx="384048" cy="384048"/>
          </a:xfrm>
          <a:prstGeom prst="ellipse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50215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24"/>
                </a:solidFill>
              </a:rPr>
              <a:t>Insérer à la bonne position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151376"/>
            <a:ext cx="384048" cy="384048"/>
          </a:xfrm>
          <a:prstGeom prst="ellipse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10565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24"/>
                </a:solidFill>
              </a:rPr>
              <a:t>Sauvegarder le fichier CSV mis à jour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0" y="1097280"/>
            <a:ext cx="4206240" cy="3703320"/>
          </a:xfrm>
          <a:prstGeom prst="rect">
            <a:avLst/>
          </a:prstGeom>
          <a:solidFill>
            <a:srgbClr val="1E2D24"/>
          </a:solidFill>
          <a:ln w="12700">
            <a:solidFill>
              <a:srgbClr val="1E2D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10972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116"/>
                </a:solidFill>
              </a:rPr>
              <a:t>Recherche Binaire — Exemple visuel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1508760"/>
            <a:ext cx="4206240" cy="36576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691640"/>
            <a:ext cx="731520" cy="475488"/>
          </a:xfrm>
          <a:prstGeom prst="rect">
            <a:avLst/>
          </a:prstGeom>
          <a:solidFill>
            <a:srgbClr val="003F8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69164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Akomy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49824" y="1691640"/>
            <a:ext cx="731520" cy="475488"/>
          </a:xfrm>
          <a:prstGeom prst="rect">
            <a:avLst/>
          </a:prstGeom>
          <a:solidFill>
            <a:srgbClr val="003F8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9824" y="169164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Bignoumba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36208" y="1691640"/>
            <a:ext cx="731520" cy="475488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169164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D24"/>
                </a:solidFill>
              </a:rPr>
              <a:t>Moussavou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022592" y="1691640"/>
            <a:ext cx="731520" cy="475488"/>
          </a:xfrm>
          <a:prstGeom prst="rect">
            <a:avLst/>
          </a:prstGeom>
          <a:solidFill>
            <a:srgbClr val="003F8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22592" y="169164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Nzé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808976" y="1691640"/>
            <a:ext cx="731520" cy="475488"/>
          </a:xfrm>
          <a:prstGeom prst="rect">
            <a:avLst/>
          </a:prstGeom>
          <a:solidFill>
            <a:srgbClr val="003F8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08976" y="169164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Ondo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63440" y="2240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C8B0"/>
                </a:solidFill>
              </a:rPr>
              <a:t>Tableau trié — on cherche la position pour 'Minko'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2651760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gauche=0, droite=n-1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tant que gauche &lt;= droite: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milieu=(gauche+droite)/2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 tab[milieu].nom &lt; nom: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gauche = milieu + 1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sinon: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droite = milieu - 1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gauche // position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4526280"/>
            <a:ext cx="1828800" cy="201168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45262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D24"/>
                </a:solidFill>
              </a:rPr>
              <a:t>Complexité : O(log n)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116"/>
                </a:solidFill>
              </a:rPr>
              <a:t>Applications concrètes pour les Gabonais·es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2834640" cy="173736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834640" cy="438912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🎓  Universités &amp; Lycées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Gestion des listes d'étudiants à l'USTM, UOB, lycées publics de Libreville, Franceville…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1097280"/>
            <a:ext cx="2834640" cy="173736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1097280"/>
            <a:ext cx="2834640" cy="438912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0972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🏥  Hôpitaux &amp; Santé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60020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Registres de patients dans les hôpitaux gabonais (CHUL, Fondation Jeanne Ebori…)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63056" y="1097280"/>
            <a:ext cx="2834640" cy="173736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63056" y="1097280"/>
            <a:ext cx="2834640" cy="43891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10972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🏛️  Mairies &amp; État Civil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54496" y="160020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Registres de naissances, mariages, décès dans les communes du Gabon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2834640" cy="173736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017520"/>
            <a:ext cx="2834640" cy="43891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175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 Entreprises nationales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52044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Annuaires employés de Gabon Télécom, SEEG, Libreville Port Authority…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18688" y="3017520"/>
            <a:ext cx="2834640" cy="173736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18688" y="3017520"/>
            <a:ext cx="2834640" cy="43891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30175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📚  Bibliothèques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0128" y="352044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Gestion des abonnés et livres dans les médiathèques gabonaises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63056" y="3017520"/>
            <a:ext cx="2834640" cy="173736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63056" y="3017520"/>
            <a:ext cx="283464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30175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🗳️  Élections &amp; Vote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54496" y="352044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Listes électorales triées alphabétiquement pour les bureaux de vote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116"/>
                </a:solidFill>
              </a:rPr>
              <a:t>Plan de Réalisation — Vue d'ensemble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344168"/>
            <a:ext cx="36576" cy="612648"/>
          </a:xfrm>
          <a:prstGeom prst="rect">
            <a:avLst/>
          </a:prstGeom>
          <a:solidFill>
            <a:srgbClr val="E8F0EC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88720"/>
            <a:ext cx="475488" cy="475488"/>
          </a:xfrm>
          <a:prstGeom prst="ellipse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1143000"/>
            <a:ext cx="7589520" cy="50292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1143000"/>
            <a:ext cx="64008" cy="502920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1612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B3C"/>
                </a:solidFill>
              </a:rPr>
              <a:t>Structure du projet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1389888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Définir les struct, constantes, headers (.h), architecture modulaire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" y="1956816"/>
            <a:ext cx="36576" cy="612648"/>
          </a:xfrm>
          <a:prstGeom prst="rect">
            <a:avLst/>
          </a:prstGeom>
          <a:solidFill>
            <a:srgbClr val="E8F0EC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801368"/>
            <a:ext cx="475488" cy="475488"/>
          </a:xfrm>
          <a:prstGeom prst="ellipse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01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88720" y="1755648"/>
            <a:ext cx="7589520" cy="50292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1755648"/>
            <a:ext cx="64008" cy="502920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17739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F87"/>
                </a:solidFill>
              </a:rPr>
              <a:t>Gestion fichier CSV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2002536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Fonctions de lecture/écriture, parsing des lignes, gestion guillemets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" y="2569464"/>
            <a:ext cx="36576" cy="612648"/>
          </a:xfrm>
          <a:prstGeom prst="rect">
            <a:avLst/>
          </a:prstGeom>
          <a:solidFill>
            <a:srgbClr val="E8F0EC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414016"/>
            <a:ext cx="475488" cy="47548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414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188720" y="2368296"/>
            <a:ext cx="7589520" cy="50292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88720" y="2368296"/>
            <a:ext cx="64008" cy="5029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23865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</a:rPr>
              <a:t>Algorithmes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71600" y="2615184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Recherche binaire (insertion), recherche linéaire (doublons), tri qsort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" y="3182112"/>
            <a:ext cx="36576" cy="612648"/>
          </a:xfrm>
          <a:prstGeom prst="rect">
            <a:avLst/>
          </a:prstGeom>
          <a:solidFill>
            <a:srgbClr val="E8F0EC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026664"/>
            <a:ext cx="475488" cy="475488"/>
          </a:xfrm>
          <a:prstGeom prst="ellipse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026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188720" y="2980944"/>
            <a:ext cx="7589520" cy="50292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" y="2980944"/>
            <a:ext cx="64008" cy="5029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29992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4513"/>
                </a:solidFill>
              </a:rPr>
              <a:t>Interface Console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71600" y="3227832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Menu CLI coloré ANSI, saisie sécurisée, affichage formaté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9808" y="3794760"/>
            <a:ext cx="36576" cy="612648"/>
          </a:xfrm>
          <a:prstGeom prst="rect">
            <a:avLst/>
          </a:prstGeom>
          <a:solidFill>
            <a:srgbClr val="E8F0EC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3639312"/>
            <a:ext cx="475488" cy="475488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639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188720" y="3593592"/>
            <a:ext cx="7589520" cy="50292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88720" y="3593592"/>
            <a:ext cx="64008" cy="5029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71600" y="36118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</a:rPr>
              <a:t>Interface GTK+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371600" y="384048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GUI avec fenêtres, tables, formulaires GTK+ 3.0 + style CSS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9808" y="4407408"/>
            <a:ext cx="36576" cy="612648"/>
          </a:xfrm>
          <a:prstGeom prst="rect">
            <a:avLst/>
          </a:prstGeom>
          <a:solidFill>
            <a:srgbClr val="E8F0EC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" y="4251960"/>
            <a:ext cx="475488" cy="47548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188720" y="4206240"/>
            <a:ext cx="7589520" cy="50292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88720" y="4206240"/>
            <a:ext cx="64008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0" y="42245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Tests &amp; Validation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371600" y="4453128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Compilation Makefile, tests avec données réelles, débogage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116"/>
                </a:solidFill>
              </a:rPr>
              <a:t>Étape 1 — Structure du Projet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E6D5"/>
                </a:solidFill>
              </a:rPr>
              <a:t>Définition des types, constantes, headers et architecture modulaire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3657600" cy="3520440"/>
          </a:xfrm>
          <a:prstGeom prst="rect">
            <a:avLst/>
          </a:prstGeom>
          <a:solidFill>
            <a:srgbClr val="1E2D24"/>
          </a:solidFill>
          <a:ln w="12700">
            <a:solidFill>
              <a:srgbClr val="1E2D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🗂  Arborescence du projet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627632"/>
            <a:ext cx="343814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gestion_etudiants/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CMD_gestion/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CMD_gestion_etudiants.c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GUI_gestion/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GUI_gestion_etudiants.c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style.css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functions/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fonctions.c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etudiant.c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banner.c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libs/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etudiant.h   ← struct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fonctions.h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couleurs.h   ← ANSI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banner.h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Etudiants.csv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makefile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206240" y="1234440"/>
            <a:ext cx="4663440" cy="1664208"/>
          </a:xfrm>
          <a:prstGeom prst="rect">
            <a:avLst/>
          </a:prstGeom>
          <a:solidFill>
            <a:srgbClr val="1E2D24"/>
          </a:solidFill>
          <a:ln w="12700">
            <a:solidFill>
              <a:srgbClr val="1E2D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234440"/>
            <a:ext cx="4663440" cy="347472"/>
          </a:xfrm>
          <a:prstGeom prst="rect">
            <a:avLst/>
          </a:prstGeom>
          <a:solidFill>
            <a:srgbClr val="111A14"/>
          </a:solidFill>
          <a:ln w="12700">
            <a:solidFill>
              <a:srgbClr val="111A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23444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libs/etudiant.h — Constantes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15968" y="1618488"/>
            <a:ext cx="44439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MAX_STUD   1000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MAX_CHAMP  128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MAX_LIGNE  512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FILENAME   "data/Etudiants.csv"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nom[MAX_CHAMP];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prenom[MAX_CHAMP];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classe[MAX_CHAMP];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matricule[MAX_CHAMP];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email[MAX_CHAMP];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sex[MAX_CHAMP];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Etudiant;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06240" y="3035808"/>
            <a:ext cx="4663440" cy="1737360"/>
          </a:xfrm>
          <a:prstGeom prst="rect">
            <a:avLst/>
          </a:prstGeom>
          <a:solidFill>
            <a:srgbClr val="1E2D24"/>
          </a:solidFill>
          <a:ln w="12700">
            <a:solidFill>
              <a:srgbClr val="1E2D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3035808"/>
            <a:ext cx="4663440" cy="347472"/>
          </a:xfrm>
          <a:prstGeom prst="rect">
            <a:avLst/>
          </a:prstGeom>
          <a:solidFill>
            <a:srgbClr val="111A14"/>
          </a:solidFill>
          <a:ln w="12700">
            <a:solidFill>
              <a:srgbClr val="111A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303580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libs/couleurs.h — Codes ANSI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15968" y="3419856"/>
            <a:ext cx="444398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RESET   "\033[0m"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ROUGE   "\033[31m"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VERT    "\033[32m"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JAUNE   "\033[33m"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CYAN    "\033[36m"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GRAS    "\033[1m"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Usage: printf(VERT "Succès !" RESET);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116"/>
                </a:solidFill>
              </a:rPr>
              <a:t>Étape 2 — Gestion du Fichier CSV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E6D5"/>
                </a:solidFill>
              </a:rPr>
              <a:t>Lecture, écriture et parsing robuste du fichier de données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07008"/>
            <a:ext cx="4206240" cy="1828800"/>
          </a:xfrm>
          <a:prstGeom prst="rect">
            <a:avLst/>
          </a:prstGeom>
          <a:solidFill>
            <a:srgbClr val="1E2D24"/>
          </a:solidFill>
          <a:ln w="12700">
            <a:solidFill>
              <a:srgbClr val="1E2D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07008"/>
            <a:ext cx="4206240" cy="347472"/>
          </a:xfrm>
          <a:prstGeom prst="rect">
            <a:avLst/>
          </a:prstGeom>
          <a:solidFill>
            <a:srgbClr val="111A14"/>
          </a:solidFill>
          <a:ln w="12700">
            <a:solidFill>
              <a:srgbClr val="111A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070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fonctions.c — Lecture CSV (charger_etudiants)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591056"/>
            <a:ext cx="3986784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charger_etudiants(Etudiant tab[], int *n)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 *f = fopen(FILENAME, "r");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(!f) { *n = 0; return 0;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ligne[MAX_LIGNE];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fgets(ligne, MAX_LIGNE, f); // skip header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(fgets(ligne, MAX_LIGNE, f) &amp;&amp; *n &lt; MAX_STUD)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parse_ligne_csv(ligne, &amp;tab[(*n)++]);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fclose(f);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*n;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3127248"/>
            <a:ext cx="4206240" cy="1645920"/>
          </a:xfrm>
          <a:prstGeom prst="rect">
            <a:avLst/>
          </a:prstGeom>
          <a:solidFill>
            <a:srgbClr val="1E2D24"/>
          </a:solidFill>
          <a:ln w="12700">
            <a:solidFill>
              <a:srgbClr val="1E2D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3127248"/>
            <a:ext cx="4206240" cy="347472"/>
          </a:xfrm>
          <a:prstGeom prst="rect">
            <a:avLst/>
          </a:prstGeom>
          <a:solidFill>
            <a:srgbClr val="111A14"/>
          </a:solidFill>
          <a:ln w="12700">
            <a:solidFill>
              <a:srgbClr val="111A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1272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fonctions.c — Sauvegarde CSV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3511296"/>
            <a:ext cx="398678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sauvegarder_etudiants(Etudiant tab[], int n)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 *f = fopen(FILENAME, "w");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fprintf(f, "nom;prenom;classe;email;matricule;sex\n");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n; i++)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fprintf(f, "%s;%s;%s;%s;%s;%s\n",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tab[i].nom, tab[i].prenom, tab[i].classe,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tab[i].email, tab[i].matricule, tab[i].sex);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fclose(f);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1207008"/>
            <a:ext cx="4160520" cy="356616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207008"/>
            <a:ext cx="4160520" cy="384048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20700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116"/>
                </a:solidFill>
              </a:rPr>
              <a:t>Parsing CSV — gestion des guillemets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173736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7647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F87"/>
                </a:solidFill>
              </a:rPr>
              <a:t>Champ simple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011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Akomy;Pierre;DUT2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24942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→ Séparation directe sur ';'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65176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6791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F87"/>
                </a:solidFill>
              </a:rPr>
              <a:t>Champ avec ';'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29260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"Nzé;Jr";Paul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16382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→ Guillemets → ignorer ';' interne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56616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5935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F87"/>
                </a:solidFill>
              </a:rPr>
              <a:t>Guillemet doublé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8404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 ""Dit"";Paul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407822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→ "" → un guillemet dans le champ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116"/>
                </a:solidFill>
              </a:rPr>
              <a:t>Étape 3 — Algorithmes : Recherche &amp; Tri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E6D5"/>
                </a:solidFill>
              </a:rPr>
              <a:t>Recherche binaire (insertion), doublon matricule, tri rapide qsort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07008"/>
            <a:ext cx="4160520" cy="1874520"/>
          </a:xfrm>
          <a:prstGeom prst="rect">
            <a:avLst/>
          </a:prstGeom>
          <a:solidFill>
            <a:srgbClr val="1E2D24"/>
          </a:solidFill>
          <a:ln w="12700">
            <a:solidFill>
              <a:srgbClr val="1E2D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07008"/>
            <a:ext cx="4160520" cy="347472"/>
          </a:xfrm>
          <a:prstGeom prst="rect">
            <a:avLst/>
          </a:prstGeom>
          <a:solidFill>
            <a:srgbClr val="111A14"/>
          </a:solidFill>
          <a:ln w="12700">
            <a:solidFill>
              <a:srgbClr val="111A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0700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fonctions.c — Recherche binaire (cher_pos_ins)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591056"/>
            <a:ext cx="3941064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cher_pos_ins(Etudiant tab[], int n, char *nom)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g = 0, d = n - 1;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(g &lt;= d)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m = (g + d) / 2;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cmp = strcasecmp(tab[m].nom, nom);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(cmp == 0) return m;  // trouvé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(cmp &lt; 0)  g = m + 1;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         d = m - 1;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g; // position d'insertion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3154680"/>
            <a:ext cx="4160520" cy="1600200"/>
          </a:xfrm>
          <a:prstGeom prst="rect">
            <a:avLst/>
          </a:prstGeom>
          <a:solidFill>
            <a:srgbClr val="1E2D24"/>
          </a:solidFill>
          <a:ln w="12700">
            <a:solidFill>
              <a:srgbClr val="1E2D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3154680"/>
            <a:ext cx="4160520" cy="347472"/>
          </a:xfrm>
          <a:prstGeom prst="rect">
            <a:avLst/>
          </a:prstGeom>
          <a:solidFill>
            <a:srgbClr val="111A14"/>
          </a:solidFill>
          <a:ln w="12700">
            <a:solidFill>
              <a:srgbClr val="111A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154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fonctions.c — Vérification doublon matricule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3538728"/>
            <a:ext cx="394106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matricule_existe(Etudiant tab[], int 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char *mat)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n; i++)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(strcmp(tab[i].matricule, mat) == 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1; // déjà présent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 // inexistant → ok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1207008"/>
            <a:ext cx="4160520" cy="1874520"/>
          </a:xfrm>
          <a:prstGeom prst="rect">
            <a:avLst/>
          </a:prstGeom>
          <a:solidFill>
            <a:srgbClr val="1E2D24"/>
          </a:solidFill>
          <a:ln w="12700">
            <a:solidFill>
              <a:srgbClr val="1E2D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207008"/>
            <a:ext cx="4160520" cy="347472"/>
          </a:xfrm>
          <a:prstGeom prst="rect">
            <a:avLst/>
          </a:prstGeom>
          <a:solidFill>
            <a:srgbClr val="111A14"/>
          </a:solidFill>
          <a:ln w="12700">
            <a:solidFill>
              <a:srgbClr val="111A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20700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fonctions.c — Insertion triée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18888" y="1591056"/>
            <a:ext cx="3941064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inserer_etudiant(Etudiant tab[], int *n,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Etudiant nouv)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(matricule_existe(tab, *n, nouv.matricule))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printf(ROUGE "Étudiant déjà présent\n" RESET);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pos = cher_pos_ins(tab, *n, nouv.nom);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Décalage vers la droite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*n; i &gt; pos; i--)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tab[i] = tab[i-1];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tab[pos] = nouv;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(*n)++;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3154680"/>
            <a:ext cx="4160520" cy="160020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3154680"/>
            <a:ext cx="4160520" cy="3657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1546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Tableau de complexité algorithmique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602736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60273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Recherche binaire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80960" y="3639312"/>
            <a:ext cx="1097280" cy="201168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36393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D116"/>
                </a:solidFill>
              </a:rPr>
              <a:t>O(log n)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877056"/>
            <a:ext cx="4160520" cy="274320"/>
          </a:xfrm>
          <a:prstGeom prst="rect">
            <a:avLst/>
          </a:prstGeom>
          <a:solidFill>
            <a:srgbClr val="EEF6EE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87705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Vérif. doublon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80960" y="3913632"/>
            <a:ext cx="1097280" cy="201168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39136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D116"/>
                </a:solidFill>
              </a:rPr>
              <a:t>O(n)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4151376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415137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Insertion triée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80960" y="4187952"/>
            <a:ext cx="1097280" cy="201168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4187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D116"/>
                </a:solidFill>
              </a:rPr>
              <a:t>O(n)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4425696"/>
            <a:ext cx="4160520" cy="274320"/>
          </a:xfrm>
          <a:prstGeom prst="rect">
            <a:avLst/>
          </a:prstGeom>
          <a:solidFill>
            <a:srgbClr val="EEF6EE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42569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Tri qsort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80960" y="4462272"/>
            <a:ext cx="1097280" cy="201168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0" y="44622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D116"/>
                </a:solidFill>
              </a:rPr>
              <a:t>O(n log n)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116"/>
                </a:solidFill>
              </a:rPr>
              <a:t>Étape 4 — Interface Console (CMD)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E6D5"/>
                </a:solidFill>
              </a:rPr>
              <a:t>Menu interactif coloré ANSI, saisie sécurisée, affichage formaté en tableau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07008"/>
            <a:ext cx="4160520" cy="2194560"/>
          </a:xfrm>
          <a:prstGeom prst="rect">
            <a:avLst/>
          </a:prstGeom>
          <a:solidFill>
            <a:srgbClr val="1E2D24"/>
          </a:solidFill>
          <a:ln w="12700">
            <a:solidFill>
              <a:srgbClr val="1E2D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07008"/>
            <a:ext cx="4160520" cy="347472"/>
          </a:xfrm>
          <a:prstGeom prst="rect">
            <a:avLst/>
          </a:prstGeom>
          <a:solidFill>
            <a:srgbClr val="111A14"/>
          </a:solidFill>
          <a:ln w="12700">
            <a:solidFill>
              <a:srgbClr val="111A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0700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CMD_gestion_etudiants.c — Menu principal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591056"/>
            <a:ext cx="394106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afficher_menu(int n)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printf(CYAN GRAS);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printf("═══ GESTION DES ÉTUDIANTS ═══\n");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printf(RESET JAUNE);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 Étudiants enregistrés : %d\n\n", n);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printf(VERT " 1. " RESET "Ajouter un étudiant\n");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printf(VERT " 2. " RESET "Afficher tous\n");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printf(VERT " 3. " RESET "Rechercher par nom\n");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printf(VERT " 4. " RESET "Modifier\n");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printf(VERT " 5. " RESET "Supprimer\n");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printf(VERT " 6. " RESET "Trier\n");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printf(ROUGE " 0. " RESET "Quitter\n");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3493008"/>
            <a:ext cx="4160520" cy="1234440"/>
          </a:xfrm>
          <a:prstGeom prst="rect">
            <a:avLst/>
          </a:prstGeom>
          <a:solidFill>
            <a:srgbClr val="1E2D24"/>
          </a:solidFill>
          <a:ln w="12700">
            <a:solidFill>
              <a:srgbClr val="1E2D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3493008"/>
            <a:ext cx="4160520" cy="347472"/>
          </a:xfrm>
          <a:prstGeom prst="rect">
            <a:avLst/>
          </a:prstGeom>
          <a:solidFill>
            <a:srgbClr val="111A14"/>
          </a:solidFill>
          <a:ln w="12700">
            <a:solidFill>
              <a:srgbClr val="111A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49300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fonctions.c — Saisie sécurisée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3877056"/>
            <a:ext cx="394106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saisir_champ(char *buf, int max,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const char *invite)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printf("%s : ", invite);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fgets(buf, max, stdin);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buf[strcspn(buf, "\n")] = 0; // trim \n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1207008"/>
            <a:ext cx="4160520" cy="3520440"/>
          </a:xfrm>
          <a:prstGeom prst="rect">
            <a:avLst/>
          </a:prstGeom>
          <a:solidFill>
            <a:srgbClr val="0C160E"/>
          </a:solidFill>
          <a:ln w="19050">
            <a:solidFill>
              <a:srgbClr val="006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2344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A0"/>
                </a:solidFill>
              </a:rPr>
              <a:t>● Simulation console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73168" y="1536192"/>
            <a:ext cx="400507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╔══════════════════════════════════╗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GESTION DES ÉTUDIANTS - USTM   ║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Étudiants enregistrés : 47     ║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╠══════════════════════════════════╣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1. Ajouter un étudiant         ║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2. Afficher tous les étudiants ║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3. Rechercher par nom          ║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4. Modifier un étudiant        ║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5. Supprimer un étudiant       ║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6. Trier les étudiants         ║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0. Quitter                     ║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╚══════════════════════════════════╝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Votre choix : 1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==&gt; Nom     : Minko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==&gt; Prénom  : Hervé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==&gt; Classe  : DUT2-GRT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==&gt; Email   : h.minko@ustm.ga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==&gt; Matricule : MAT2024048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==&gt; Sexe    : M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[SUCCÈS] Étudiant inséré en position 24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116"/>
                </a:solidFill>
              </a:rPr>
              <a:t>Étape 5 — Interface Graphique GTK+ 3.0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E6D5"/>
                </a:solidFill>
              </a:rPr>
              <a:t>Fenêtres natives, tableau de données, formulaire d'ajout, style CSS personnalisé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07008"/>
            <a:ext cx="4160520" cy="2103120"/>
          </a:xfrm>
          <a:prstGeom prst="rect">
            <a:avLst/>
          </a:prstGeom>
          <a:solidFill>
            <a:srgbClr val="1E2D24"/>
          </a:solidFill>
          <a:ln w="12700">
            <a:solidFill>
              <a:srgbClr val="1E2D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07008"/>
            <a:ext cx="4160520" cy="347472"/>
          </a:xfrm>
          <a:prstGeom prst="rect">
            <a:avLst/>
          </a:prstGeom>
          <a:solidFill>
            <a:srgbClr val="111A14"/>
          </a:solidFill>
          <a:ln w="12700">
            <a:solidFill>
              <a:srgbClr val="111A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0700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GUI_gestion_etudiants.c — Fenêtre principale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591056"/>
            <a:ext cx="394106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main(int argc, char *argv[])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gtk_init(&amp;argc, &amp;argv);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GtkWidget *win = gtk_window_new(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GTK_WINDOW_TOPLEVEL);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gtk_window_set_title(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GTK_WINDOW(win),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"Gestion des Étudiants — USTM");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gtk_window_set_default_size(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GTK_WINDOW(win), 900, 600);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g_signal_connect(win, "destroy",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G_CALLBACK(gtk_main_quit), NULL);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ajout widgets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gtk_widget_show_all(win);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gtk_main();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3401568"/>
            <a:ext cx="4160520" cy="1325880"/>
          </a:xfrm>
          <a:prstGeom prst="rect">
            <a:avLst/>
          </a:prstGeom>
          <a:solidFill>
            <a:srgbClr val="1E2D24"/>
          </a:solidFill>
          <a:ln w="12700">
            <a:solidFill>
              <a:srgbClr val="1E2D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3401568"/>
            <a:ext cx="4160520" cy="347472"/>
          </a:xfrm>
          <a:prstGeom prst="rect">
            <a:avLst/>
          </a:prstGeom>
          <a:solidFill>
            <a:srgbClr val="111A14"/>
          </a:solidFill>
          <a:ln w="12700">
            <a:solidFill>
              <a:srgbClr val="111A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40156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style.css — Thème personnalisé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3785616"/>
            <a:ext cx="3941064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.header-bar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background-color: #006B3C; /* vert USTM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color: #FCD116;            /* or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.btn-action { background: #003F87;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.treeview row:selected { background: #FCD116; }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1207008"/>
            <a:ext cx="4160520" cy="352044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207008"/>
            <a:ext cx="4160520" cy="38404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20700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Composants GTK+ utilisés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1737360"/>
            <a:ext cx="1371600" cy="25603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737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GtkWindow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63640" y="17373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Fenêtre principale de l'application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057400"/>
            <a:ext cx="1371600" cy="256032"/>
          </a:xfrm>
          <a:prstGeom prst="rect">
            <a:avLst/>
          </a:prstGeom>
          <a:solidFill>
            <a:srgbClr val="003F87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057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GtkTreeView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63640" y="20574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Tableau d'affichage des étudiants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377440"/>
            <a:ext cx="1371600" cy="25603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377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GtkListStore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63640" y="23774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Modèle de données pour le tableau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697480"/>
            <a:ext cx="1371600" cy="256032"/>
          </a:xfrm>
          <a:prstGeom prst="rect">
            <a:avLst/>
          </a:prstGeom>
          <a:solidFill>
            <a:srgbClr val="003F87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697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GtkEntry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63640" y="269748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Champs de saisie du formulaire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017520"/>
            <a:ext cx="1371600" cy="25603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017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GtkButton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63640" y="30175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Boutons : Ajouter, Modifier, Supprimer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3337560"/>
            <a:ext cx="1371600" cy="256032"/>
          </a:xfrm>
          <a:prstGeom prst="rect">
            <a:avLst/>
          </a:prstGeom>
          <a:solidFill>
            <a:srgbClr val="003F87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337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GtkDialog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63640" y="33375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Fenêtres de confirmation/erreur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657600"/>
            <a:ext cx="1371600" cy="25603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657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GtkCssProvider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63640" y="36576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Chargement du fichier style.css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3977640"/>
            <a:ext cx="1371600" cy="256032"/>
          </a:xfrm>
          <a:prstGeom prst="rect">
            <a:avLst/>
          </a:prstGeom>
          <a:solidFill>
            <a:srgbClr val="003F87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977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GtkHeaderBar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63640" y="39776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Barre de titre moderne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4480560"/>
            <a:ext cx="4160520" cy="246888"/>
          </a:xfrm>
          <a:prstGeom prst="rect">
            <a:avLst/>
          </a:prstGeom>
          <a:solidFill>
            <a:srgbClr val="1E2D24"/>
          </a:solidFill>
          <a:ln w="12700">
            <a:solidFill>
              <a:srgbClr val="1E2D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480560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: sudo apt install libgtk-3-dev  |  Windows : MSYS2 pacman -S mingw-w64-x86_64-gtk3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116"/>
                </a:solidFill>
              </a:rPr>
              <a:t>Étape 6 — Tests &amp; 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E6D5"/>
                </a:solidFill>
              </a:rPr>
              <a:t>Compilation avec Makefile, scénarios de test, cas limites et débogage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07008"/>
            <a:ext cx="4160520" cy="2148840"/>
          </a:xfrm>
          <a:prstGeom prst="rect">
            <a:avLst/>
          </a:prstGeom>
          <a:solidFill>
            <a:srgbClr val="1E2D24"/>
          </a:solidFill>
          <a:ln w="12700">
            <a:solidFill>
              <a:srgbClr val="1E2D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07008"/>
            <a:ext cx="4160520" cy="347472"/>
          </a:xfrm>
          <a:prstGeom prst="rect">
            <a:avLst/>
          </a:prstGeom>
          <a:solidFill>
            <a:srgbClr val="111A14"/>
          </a:solidFill>
          <a:ln w="12700">
            <a:solidFill>
              <a:srgbClr val="111A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0700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makefile — Compilation automatisée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591056"/>
            <a:ext cx="3941064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      = gcc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FLAGS   = -Wall -Wextra -std=c99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     = -I./libs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LIBS_GTK = $(shell pkg-config --libs gtk+-3.0)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CFLAGS_GTK = $(shell pkg-config --cflags gtk+-3.0)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all: cmd gui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$(CC) $(FLAGS) $(INC) CMD_gestion/*.c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    functions/*.c -o cmd_gestion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$(CC) $(FLAGS) $(INC) GUI_gestion/*.c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    functions/fonctions.c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    $(CFLAGS_GTK) $(LIBS_GTK) -o gui_gestion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rm -f cmd_gestion gui_gestion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3456432"/>
            <a:ext cx="4160520" cy="1261872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3456432"/>
            <a:ext cx="41605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45643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Scénarios de test principaux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840480"/>
            <a:ext cx="41605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84048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24"/>
                </a:solidFill>
              </a:rPr>
              <a:t>Insertion normale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0" y="3840480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059936"/>
            <a:ext cx="4160520" cy="219456"/>
          </a:xfrm>
          <a:prstGeom prst="rect">
            <a:avLst/>
          </a:prstGeom>
          <a:solidFill>
            <a:srgbClr val="F0FAF4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05993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24"/>
                </a:solidFill>
              </a:rPr>
              <a:t>Matricule doublon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0" y="405993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279392"/>
            <a:ext cx="41605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27939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24"/>
                </a:solidFill>
              </a:rPr>
              <a:t>Fichier CSV absent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0" y="427939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498848"/>
            <a:ext cx="4160520" cy="219456"/>
          </a:xfrm>
          <a:prstGeom prst="rect">
            <a:avLst/>
          </a:prstGeom>
          <a:solidFill>
            <a:srgbClr val="F0FAF4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49884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24"/>
                </a:solidFill>
              </a:rPr>
              <a:t>Tableau plein (1000)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0" y="4498848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1207008"/>
            <a:ext cx="4160520" cy="352044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1207008"/>
            <a:ext cx="416052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20700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Checklist de validation finale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1719072"/>
            <a:ext cx="3931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746504"/>
            <a:ext cx="201168" cy="201168"/>
          </a:xfrm>
          <a:prstGeom prst="ellipse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38928" y="1719072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24"/>
                </a:solidFill>
              </a:rPr>
              <a:t>Compilation sans warning (-Wall)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2011680"/>
            <a:ext cx="3931920" cy="256032"/>
          </a:xfrm>
          <a:prstGeom prst="rect">
            <a:avLst/>
          </a:prstGeom>
          <a:solidFill>
            <a:srgbClr val="F0FAF4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039112"/>
            <a:ext cx="201168" cy="201168"/>
          </a:xfrm>
          <a:prstGeom prst="ellipse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38928" y="201168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24"/>
                </a:solidFill>
              </a:rPr>
              <a:t>Insertion respecte l'ordre A→Z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0600" y="2304288"/>
            <a:ext cx="3931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2331720"/>
            <a:ext cx="201168" cy="201168"/>
          </a:xfrm>
          <a:prstGeom prst="ellipse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38928" y="230428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24"/>
                </a:solidFill>
              </a:rPr>
              <a:t>Doublon matricule détecté et refusé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00600" y="2596896"/>
            <a:ext cx="3931920" cy="256032"/>
          </a:xfrm>
          <a:prstGeom prst="rect">
            <a:avLst/>
          </a:prstGeom>
          <a:solidFill>
            <a:srgbClr val="F0FAF4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2624328"/>
            <a:ext cx="201168" cy="201168"/>
          </a:xfrm>
          <a:prstGeom prst="ellipse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38928" y="259689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24"/>
                </a:solidFill>
              </a:rPr>
              <a:t>Fichier CSV correctement sauvegardé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00600" y="2889504"/>
            <a:ext cx="3931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2916936"/>
            <a:ext cx="201168" cy="201168"/>
          </a:xfrm>
          <a:prstGeom prst="ellipse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38928" y="288950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24"/>
                </a:solidFill>
              </a:rPr>
              <a:t>Recherche insensible à la casse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00600" y="3182112"/>
            <a:ext cx="3931920" cy="256032"/>
          </a:xfrm>
          <a:prstGeom prst="rect">
            <a:avLst/>
          </a:prstGeom>
          <a:solidFill>
            <a:srgbClr val="F0FAF4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3209544"/>
            <a:ext cx="201168" cy="201168"/>
          </a:xfrm>
          <a:prstGeom prst="ellipse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38928" y="3182112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24"/>
                </a:solidFill>
              </a:rPr>
              <a:t>Tri par nom ET par classe fonctionnel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800600" y="3474720"/>
            <a:ext cx="3931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46320" y="3502152"/>
            <a:ext cx="201168" cy="201168"/>
          </a:xfrm>
          <a:prstGeom prst="ellipse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38928" y="347472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24"/>
                </a:solidFill>
              </a:rPr>
              <a:t>Interface GTK+ s'ouvre sans erreur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800600" y="3767328"/>
            <a:ext cx="3931920" cy="256032"/>
          </a:xfrm>
          <a:prstGeom prst="rect">
            <a:avLst/>
          </a:prstGeom>
          <a:solidFill>
            <a:srgbClr val="F0FAF4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46320" y="3794760"/>
            <a:ext cx="201168" cy="201168"/>
          </a:xfrm>
          <a:prstGeom prst="ellipse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38928" y="376732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24"/>
                </a:solidFill>
              </a:rPr>
              <a:t>Valgrind : aucune fuite mémoire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800600" y="4059936"/>
            <a:ext cx="3931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46320" y="4087368"/>
            <a:ext cx="201168" cy="201168"/>
          </a:xfrm>
          <a:prstGeom prst="ellipse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38928" y="405993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24"/>
                </a:solidFill>
              </a:rPr>
              <a:t>Test avec 50 étudiants réels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800600" y="4352544"/>
            <a:ext cx="3931920" cy="256032"/>
          </a:xfrm>
          <a:prstGeom prst="rect">
            <a:avLst/>
          </a:prstGeom>
          <a:solidFill>
            <a:srgbClr val="F0FAF4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46320" y="4379976"/>
            <a:ext cx="201168" cy="201168"/>
          </a:xfrm>
          <a:prstGeom prst="ellipse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38928" y="435254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24"/>
                </a:solidFill>
              </a:rPr>
              <a:t>Caractères UTF-8 (é, ê, à…) supportés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116"/>
                </a:solidFill>
              </a:rPr>
              <a:t>Architecture du Système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143000"/>
            <a:ext cx="6400800" cy="685800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17957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116"/>
                </a:solidFill>
              </a:rPr>
              <a:t>Interface Utilisateur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49047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CMD Console (ANSI)  |  GUI GTK+ 3.0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62272" y="1828800"/>
            <a:ext cx="201168" cy="347472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011680"/>
            <a:ext cx="6400800" cy="685800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04825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116"/>
                </a:solidFill>
              </a:rPr>
              <a:t>Logique Métier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35915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Insertion  |  Recherche  |  Tri  |  Suppression  |  Modification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62272" y="2697480"/>
            <a:ext cx="201168" cy="347472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2880360"/>
            <a:ext cx="6400800" cy="6858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291693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116"/>
                </a:solidFill>
              </a:rPr>
              <a:t>Gestion des Données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322783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Lecture/Écriture CSV  |  Parsing complexe  |  safe_strncpy()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62272" y="3566160"/>
            <a:ext cx="201168" cy="347472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3749040"/>
            <a:ext cx="6400800" cy="685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378561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116"/>
                </a:solidFill>
              </a:rPr>
              <a:t>Structure de Données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409651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Tableau statique d'Étudiants  —  MAX_STUD = 1000  |  sizeof(Etudiant) × 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1143000"/>
            <a:ext cx="1051560" cy="329184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114300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3C"/>
                </a:solidFill>
              </a:rPr>
              <a:t>Fichiers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6888" y="1554480"/>
            <a:ext cx="914400" cy="475488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" y="15544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D116"/>
                </a:solidFill>
              </a:rPr>
              <a:t>CMD/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CD116"/>
                </a:solidFill>
              </a:rPr>
              <a:t>.c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6888" y="2121408"/>
            <a:ext cx="914400" cy="475488"/>
          </a:xfrm>
          <a:prstGeom prst="rect">
            <a:avLst/>
          </a:prstGeom>
          <a:solidFill>
            <a:srgbClr val="003F87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" y="212140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D116"/>
                </a:solidFill>
              </a:rPr>
              <a:t>GUI/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CD116"/>
                </a:solidFill>
              </a:rPr>
              <a:t>.c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6888" y="2688336"/>
            <a:ext cx="914400" cy="475488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" y="268833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D116"/>
                </a:solidFill>
              </a:rPr>
              <a:t>functions/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CD116"/>
                </a:solidFill>
              </a:rPr>
              <a:t>.c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6888" y="3255264"/>
            <a:ext cx="914400" cy="475488"/>
          </a:xfrm>
          <a:prstGeom prst="rect">
            <a:avLst/>
          </a:prstGeom>
          <a:solidFill>
            <a:srgbClr val="003F87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" y="325526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D116"/>
                </a:solidFill>
              </a:rPr>
              <a:t>libs/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CD116"/>
                </a:solidFill>
              </a:rPr>
              <a:t>.h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6888" y="3822192"/>
            <a:ext cx="914400" cy="475488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" y="382219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D116"/>
                </a:solidFill>
              </a:rPr>
              <a:t>data/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CD116"/>
                </a:solidFill>
              </a:rPr>
              <a:t>.csv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D24"/>
                </a:solidFill>
              </a:rPr>
              <a:t>Simulation — Exécution du Programme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40480" cy="1371600"/>
          </a:xfrm>
          <a:prstGeom prst="rect">
            <a:avLst/>
          </a:prstGeom>
          <a:solidFill>
            <a:srgbClr val="1E2D24"/>
          </a:solidFill>
          <a:ln w="12700">
            <a:solidFill>
              <a:srgbClr val="1E2D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3840480" cy="347472"/>
          </a:xfrm>
          <a:prstGeom prst="rect">
            <a:avLst/>
          </a:prstGeom>
          <a:solidFill>
            <a:srgbClr val="111A14"/>
          </a:solidFill>
          <a:ln w="12700">
            <a:solidFill>
              <a:srgbClr val="111A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$ Compilation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389888"/>
            <a:ext cx="362102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all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 manuellement 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-Wall -std=c99 -I./libs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CMD_gestion/CMD_*.c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functions/*.c -o cmd_gest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4206240" cy="1371600"/>
          </a:xfrm>
          <a:prstGeom prst="rect">
            <a:avLst/>
          </a:prstGeom>
          <a:solidFill>
            <a:srgbClr val="1E2D24"/>
          </a:solidFill>
          <a:ln w="12700">
            <a:solidFill>
              <a:srgbClr val="1E2D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005840"/>
            <a:ext cx="4206240" cy="347472"/>
          </a:xfrm>
          <a:prstGeom prst="rect">
            <a:avLst/>
          </a:prstGeom>
          <a:solidFill>
            <a:srgbClr val="111A14"/>
          </a:solidFill>
          <a:ln w="12700">
            <a:solidFill>
              <a:srgbClr val="111A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$ Exécution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81728" y="1389888"/>
            <a:ext cx="398678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./cmd_gestion_etudiants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Version graphique 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./gui_gestion_etudiants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8412480" cy="2331720"/>
          </a:xfrm>
          <a:prstGeom prst="rect">
            <a:avLst/>
          </a:prstGeom>
          <a:solidFill>
            <a:srgbClr val="0D1A10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Sortie Console — Ajout d'un étudiant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88036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╔══════════════════════════════════════════════╗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   GESTION DES ÉTUDIANTS - USTM             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   Nombre d'étudiants: 47                   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╠══════════════════════════════════════════════╣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1. Ajouter un étudiant        0. Quitter    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╚══════════════════════════════════════════════╝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Votre choix :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==&gt; Nom : Minko   Prénom : Hervé   Matricule : MAT2024048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[SUCCÈS] Étudiant inséré en position 24 (ordre alphabétique)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116"/>
                </a:solidFill>
              </a:rPr>
              <a:t>Difficultés Rencontrées &amp; Solutions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15568"/>
            <a:ext cx="3931920" cy="804672"/>
          </a:xfrm>
          <a:prstGeom prst="rect">
            <a:avLst/>
          </a:prstGeom>
          <a:solidFill>
            <a:srgbClr val="FFF3F3"/>
          </a:solidFill>
          <a:ln w="12700">
            <a:solidFill>
              <a:srgbClr val="FFC0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15568"/>
            <a:ext cx="64008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338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⚠️ Problème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Parsing CSV avec guillemets et points-virgules dans les données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548640" cy="91440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115568"/>
            <a:ext cx="3749040" cy="804672"/>
          </a:xfrm>
          <a:prstGeom prst="rect">
            <a:avLst/>
          </a:prstGeom>
          <a:solidFill>
            <a:srgbClr val="F0FFF4"/>
          </a:solidFill>
          <a:ln w="12700">
            <a:solidFill>
              <a:srgbClr val="A0D0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115568"/>
            <a:ext cx="64008" cy="804672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1338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B3C"/>
                </a:solidFill>
              </a:rPr>
              <a:t>✅ Solution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66360" y="138988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Automate de parsing char par char gérant les états 'dans guillemet' / 'hors guillemet'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048256"/>
            <a:ext cx="3931920" cy="804672"/>
          </a:xfrm>
          <a:prstGeom prst="rect">
            <a:avLst/>
          </a:prstGeom>
          <a:solidFill>
            <a:srgbClr val="FFF3F3"/>
          </a:solidFill>
          <a:ln w="12700">
            <a:solidFill>
              <a:srgbClr val="FFC0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048256"/>
            <a:ext cx="64008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0665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⚠️ Problème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32257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Décalage des éléments lors d'une insertion triée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2395728"/>
            <a:ext cx="548640" cy="91440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2048256"/>
            <a:ext cx="3749040" cy="804672"/>
          </a:xfrm>
          <a:prstGeom prst="rect">
            <a:avLst/>
          </a:prstGeom>
          <a:solidFill>
            <a:srgbClr val="F0FFF4"/>
          </a:solidFill>
          <a:ln w="12700">
            <a:solidFill>
              <a:srgbClr val="A0D0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2048256"/>
            <a:ext cx="64008" cy="804672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20665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B3C"/>
                </a:solidFill>
              </a:rPr>
              <a:t>✅ Solution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66360" y="232257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Boucle descendante de décalage + insertion à l'indice retourné par recherche binaire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980944"/>
            <a:ext cx="3931920" cy="804672"/>
          </a:xfrm>
          <a:prstGeom prst="rect">
            <a:avLst/>
          </a:prstGeom>
          <a:solidFill>
            <a:srgbClr val="FFF3F3"/>
          </a:solidFill>
          <a:ln w="12700">
            <a:solidFill>
              <a:srgbClr val="FFC0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980944"/>
            <a:ext cx="64008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9992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⚠️ Problème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325526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Vérification des doublons de matricule (O(n))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0" y="3328416"/>
            <a:ext cx="548640" cy="91440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0" y="2980944"/>
            <a:ext cx="3749040" cy="804672"/>
          </a:xfrm>
          <a:prstGeom prst="rect">
            <a:avLst/>
          </a:prstGeom>
          <a:solidFill>
            <a:srgbClr val="F0FFF4"/>
          </a:solidFill>
          <a:ln w="12700">
            <a:solidFill>
              <a:srgbClr val="A0D0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2980944"/>
            <a:ext cx="64008" cy="804672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2999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B3C"/>
                </a:solidFill>
              </a:rPr>
              <a:t>✅ Solution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66360" y="325526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Parcours linéaire avant chaque insertion — acceptable jusqu'à MAX_STUD = 1000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913632"/>
            <a:ext cx="3931920" cy="804672"/>
          </a:xfrm>
          <a:prstGeom prst="rect">
            <a:avLst/>
          </a:prstGeom>
          <a:solidFill>
            <a:srgbClr val="FFF3F3"/>
          </a:solidFill>
          <a:ln w="12700">
            <a:solidFill>
              <a:srgbClr val="FFC0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913632"/>
            <a:ext cx="64008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9319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⚠️ Problème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418795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Portabilité Windows/Linux de l'interface GTK+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89120" y="4261104"/>
            <a:ext cx="548640" cy="91440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3913632"/>
            <a:ext cx="3749040" cy="804672"/>
          </a:xfrm>
          <a:prstGeom prst="rect">
            <a:avLst/>
          </a:prstGeom>
          <a:solidFill>
            <a:srgbClr val="F0FFF4"/>
          </a:solidFill>
          <a:ln w="12700">
            <a:solidFill>
              <a:srgbClr val="A0D0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3913632"/>
            <a:ext cx="64008" cy="804672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39319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B3C"/>
                </a:solidFill>
              </a:rPr>
              <a:t>✅ Solution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66360" y="418795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Utilisation de MSYS2 sous Windows et des paquets libgtk-3-dev sous Linux/Debian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116"/>
                </a:solidFill>
              </a:rPr>
              <a:t>Bilan &amp; Perspectives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840480" cy="347472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3840480" cy="411480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D116"/>
                </a:solidFill>
              </a:rPr>
              <a:t>✅ Objectifs Atteints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201168" cy="201168"/>
          </a:xfrm>
          <a:prstGeom prst="ellipse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2763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Insertion triée alphabétique (O(log n))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201168" cy="201168"/>
          </a:xfrm>
          <a:prstGeom prst="ellipse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9751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Validation unicité matricule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201168" cy="201168"/>
          </a:xfrm>
          <a:prstGeom prst="ellipse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32257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Recherche par nom insensible à la casse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706624"/>
            <a:ext cx="201168" cy="201168"/>
          </a:xfrm>
          <a:prstGeom prst="ellipse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6700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Tri dynamique (nom / classe)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054096"/>
            <a:ext cx="201168" cy="201168"/>
          </a:xfrm>
          <a:prstGeom prst="ellipse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0175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Interface console colorée ANSI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401568"/>
            <a:ext cx="201168" cy="201168"/>
          </a:xfrm>
          <a:prstGeom prst="ellipse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36499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Interface graphique GTK+ 3.0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749040"/>
            <a:ext cx="201168" cy="201168"/>
          </a:xfrm>
          <a:prstGeom prst="ellipse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71246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Persistance CSV robuste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096512"/>
            <a:ext cx="201168" cy="201168"/>
          </a:xfrm>
          <a:prstGeom prst="ellipse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405993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Architecture modulaire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1097280"/>
            <a:ext cx="4206240" cy="347472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1097280"/>
            <a:ext cx="4206240" cy="411480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10972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D116"/>
                </a:solidFill>
              </a:rPr>
              <a:t>🚀 Améliorations Futures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09160" y="1664208"/>
            <a:ext cx="201168" cy="201168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1627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Base de données SQLite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2011680"/>
            <a:ext cx="201168" cy="201168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1975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Export PDF de la liste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2359152"/>
            <a:ext cx="201168" cy="201168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23225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Interface web (HTML/CSS/JS)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2706624"/>
            <a:ext cx="201168" cy="201168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2670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Authentification multi-utilisateurs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3054096"/>
            <a:ext cx="201168" cy="201168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Sauvegarde cloud automatique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3401568"/>
            <a:ext cx="201168" cy="201168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10912" y="3364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Statistiques &amp; graphiques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3749040"/>
            <a:ext cx="201168" cy="201168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10912" y="37124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Internationalisation (multilingue)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4096512"/>
            <a:ext cx="201168" cy="201168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10912" y="40599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Tests unitaires automatisés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116"/>
                </a:solidFill>
              </a:rPr>
              <a:t>Références Bibliographiques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15568"/>
            <a:ext cx="1097280" cy="777240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Langage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54480" y="1115568"/>
            <a:ext cx="7223760" cy="77724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116128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[1]  B. Kernighan, D. Ritchie — The C Programming Language (2e éd., Prentice Hall)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[2]  K. N. King — C Programming: A Modern Approach (2e éd., Norton)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48256"/>
            <a:ext cx="1097280" cy="777240"/>
          </a:xfrm>
          <a:prstGeom prst="rect">
            <a:avLst/>
          </a:prstGeom>
          <a:solidFill>
            <a:srgbClr val="003F87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48256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Algorithmes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54480" y="2048256"/>
            <a:ext cx="7223760" cy="77724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2093976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[3]  T. Cormen et al. — Introduction to Algorithms (4e éd., MIT Press)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44144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[4]  R. Sedgewick — Algorithms in C (Addison-Wesley)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80944"/>
            <a:ext cx="1097280" cy="777240"/>
          </a:xfrm>
          <a:prstGeom prst="rect">
            <a:avLst/>
          </a:prstGeom>
          <a:solidFill>
            <a:srgbClr val="006B3C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80944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GTK+ 3.0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54480" y="2980944"/>
            <a:ext cx="7223760" cy="77724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1640" y="3026664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[5]  GNOME Developer Docs — GTK+ 3.0 Reference Manual (developer.gnome.org)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3374136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[6]  T. Krause — GTK+ Programming in 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913632"/>
            <a:ext cx="1097280" cy="777240"/>
          </a:xfrm>
          <a:prstGeom prst="rect">
            <a:avLst/>
          </a:prstGeom>
          <a:solidFill>
            <a:srgbClr val="003F87"/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13632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116"/>
                </a:solidFill>
              </a:rPr>
              <a:t>Outils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554480" y="3913632"/>
            <a:ext cx="7223760" cy="777240"/>
          </a:xfrm>
          <a:prstGeom prst="rect">
            <a:avLst/>
          </a:prstGeom>
          <a:solidFill>
            <a:srgbClr val="F4F9F6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395935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[7]  GNU Make Manual — GNU Project (gnu.org/software/make/manual)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4306824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[8]  GCC Documentation — Free Software Foundation (gcc.gnu.org)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6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2286000"/>
            <a:ext cx="3657600" cy="3657600"/>
          </a:xfrm>
          <a:prstGeom prst="ellipse">
            <a:avLst/>
          </a:prstGeom>
          <a:solidFill>
            <a:srgbClr val="2E8B57">
              <a:alpha val="25000"/>
            </a:srgbClr>
          </a:solidFill>
          <a:ln w="12700">
            <a:solidFill>
              <a:srgbClr val="2E8B57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FCD116">
              <a:alpha val="18000"/>
            </a:srgbClr>
          </a:solidFill>
          <a:ln w="12700">
            <a:solidFill>
              <a:srgbClr val="FCD116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!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286000" y="2176272"/>
            <a:ext cx="4572000" cy="73152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31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E6D5"/>
                </a:solidFill>
              </a:rPr>
              <a:t>Système de Gestion des Étudiants — USTM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C8B0"/>
                </a:solidFill>
              </a:rPr>
              <a:t>Programmation Avancée  •  DUT2-GRT  •  2025-2026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3931920"/>
            <a:ext cx="3657600" cy="502920"/>
          </a:xfrm>
          <a:prstGeom prst="rect">
            <a:avLst/>
          </a:prstGeom>
          <a:solidFill>
            <a:srgbClr val="003F87"/>
          </a:solidFill>
          <a:ln w="12700">
            <a:solidFill>
              <a:srgbClr val="003F8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4434840"/>
            <a:ext cx="3657600" cy="384048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3931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🇬🇦  GABON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de Gestion des Étudiants — USTM</dc:title>
  <dc:subject>PptxGenJS Presentation</dc:subject>
  <dc:creator>PptxGenJS</dc:creator>
  <cp:lastModifiedBy>PptxGenJS</cp:lastModifiedBy>
  <cp:revision>1</cp:revision>
  <dcterms:created xsi:type="dcterms:W3CDTF">2026-03-09T02:49:37Z</dcterms:created>
  <dcterms:modified xsi:type="dcterms:W3CDTF">2026-03-09T02:49:37Z</dcterms:modified>
</cp:coreProperties>
</file>